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Raleway"/>
      <p:regular r:id="rId32"/>
      <p:bold r:id="rId33"/>
      <p:italic r:id="rId34"/>
      <p:boldItalic r:id="rId35"/>
    </p:embeddedFont>
    <p:embeddedFont>
      <p:font typeface="Anaheim"/>
      <p:regular r:id="rId36"/>
      <p:bold r:id="rId37"/>
    </p:embeddedFont>
    <p:embeddedFont>
      <p:font typeface="Cairo"/>
      <p:regular r:id="rId38"/>
      <p:bold r:id="rId39"/>
    </p:embeddedFont>
    <p:embeddedFont>
      <p:font typeface="Space Grotesk Medium"/>
      <p:regular r:id="rId40"/>
      <p:bold r:id="rId41"/>
    </p:embeddedFont>
    <p:embeddedFont>
      <p:font typeface="PT Sans"/>
      <p:regular r:id="rId42"/>
      <p:bold r:id="rId43"/>
      <p:italic r:id="rId44"/>
      <p:boldItalic r:id="rId45"/>
    </p:embeddedFont>
    <p:embeddedFont>
      <p:font typeface="Space Grotesk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8" roundtripDataSignature="AMtx7micp9qazjtJ8G0N/BjTq2DUrqoW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D91538-9938-47FD-95E9-EE6563D29F9D}">
  <a:tblStyle styleId="{5CD91538-9938-47FD-95E9-EE6563D29F9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A6EFE135-7CD8-4A24-852A-2724858447E8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paceGroteskMedium-regular.fntdata"/><Relationship Id="rId20" Type="http://schemas.openxmlformats.org/officeDocument/2006/relationships/slide" Target="slides/slide15.xml"/><Relationship Id="rId42" Type="http://schemas.openxmlformats.org/officeDocument/2006/relationships/font" Target="fonts/PTSans-regular.fntdata"/><Relationship Id="rId41" Type="http://schemas.openxmlformats.org/officeDocument/2006/relationships/font" Target="fonts/SpaceGroteskMedium-bold.fntdata"/><Relationship Id="rId22" Type="http://schemas.openxmlformats.org/officeDocument/2006/relationships/slide" Target="slides/slide17.xml"/><Relationship Id="rId44" Type="http://schemas.openxmlformats.org/officeDocument/2006/relationships/font" Target="fonts/PTSans-italic.fntdata"/><Relationship Id="rId21" Type="http://schemas.openxmlformats.org/officeDocument/2006/relationships/slide" Target="slides/slide16.xml"/><Relationship Id="rId43" Type="http://schemas.openxmlformats.org/officeDocument/2006/relationships/font" Target="fonts/PTSans-bold.fntdata"/><Relationship Id="rId24" Type="http://schemas.openxmlformats.org/officeDocument/2006/relationships/slide" Target="slides/slide19.xml"/><Relationship Id="rId46" Type="http://schemas.openxmlformats.org/officeDocument/2006/relationships/font" Target="fonts/SpaceGrotesk-regular.fntdata"/><Relationship Id="rId23" Type="http://schemas.openxmlformats.org/officeDocument/2006/relationships/slide" Target="slides/slide18.xml"/><Relationship Id="rId45" Type="http://schemas.openxmlformats.org/officeDocument/2006/relationships/font" Target="fonts/PT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customschemas.google.com/relationships/presentationmetadata" Target="metadata"/><Relationship Id="rId25" Type="http://schemas.openxmlformats.org/officeDocument/2006/relationships/slide" Target="slides/slide20.xml"/><Relationship Id="rId47" Type="http://schemas.openxmlformats.org/officeDocument/2006/relationships/font" Target="fonts/SpaceGrotesk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aleway-bold.fntdata"/><Relationship Id="rId10" Type="http://schemas.openxmlformats.org/officeDocument/2006/relationships/slide" Target="slides/slide5.xml"/><Relationship Id="rId32" Type="http://schemas.openxmlformats.org/officeDocument/2006/relationships/font" Target="fonts/Raleway-regular.fntdata"/><Relationship Id="rId13" Type="http://schemas.openxmlformats.org/officeDocument/2006/relationships/slide" Target="slides/slide8.xml"/><Relationship Id="rId35" Type="http://schemas.openxmlformats.org/officeDocument/2006/relationships/font" Target="fonts/Raleway-boldItalic.fntdata"/><Relationship Id="rId12" Type="http://schemas.openxmlformats.org/officeDocument/2006/relationships/slide" Target="slides/slide7.xml"/><Relationship Id="rId34" Type="http://schemas.openxmlformats.org/officeDocument/2006/relationships/font" Target="fonts/Raleway-italic.fntdata"/><Relationship Id="rId15" Type="http://schemas.openxmlformats.org/officeDocument/2006/relationships/slide" Target="slides/slide10.xml"/><Relationship Id="rId37" Type="http://schemas.openxmlformats.org/officeDocument/2006/relationships/font" Target="fonts/Anaheim-bold.fntdata"/><Relationship Id="rId14" Type="http://schemas.openxmlformats.org/officeDocument/2006/relationships/slide" Target="slides/slide9.xml"/><Relationship Id="rId36" Type="http://schemas.openxmlformats.org/officeDocument/2006/relationships/font" Target="fonts/Anaheim-regular.fntdata"/><Relationship Id="rId17" Type="http://schemas.openxmlformats.org/officeDocument/2006/relationships/slide" Target="slides/slide12.xml"/><Relationship Id="rId39" Type="http://schemas.openxmlformats.org/officeDocument/2006/relationships/font" Target="fonts/Cairo-bold.fntdata"/><Relationship Id="rId16" Type="http://schemas.openxmlformats.org/officeDocument/2006/relationships/slide" Target="slides/slide11.xml"/><Relationship Id="rId38" Type="http://schemas.openxmlformats.org/officeDocument/2006/relationships/font" Target="fonts/Cair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97328f41c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897328f41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97328f41c_4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897328f41c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97328f41c_4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897328f41c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97328f41c_4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897328f41c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97328f41c_4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897328f41c_4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897328f41c_0_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897328f41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97328f41c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897328f41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897328f41c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897328f41c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897328f41c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897328f41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89be79aae8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89be79aae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1"/>
          <p:cNvSpPr txBox="1"/>
          <p:nvPr>
            <p:ph type="ctrTitle"/>
          </p:nvPr>
        </p:nvSpPr>
        <p:spPr>
          <a:xfrm>
            <a:off x="713225" y="2205375"/>
            <a:ext cx="5257800" cy="16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rgbClr val="24116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" type="subTitle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" name="Google Shape;1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2" type="title"/>
          </p:nvPr>
        </p:nvSpPr>
        <p:spPr>
          <a:xfrm>
            <a:off x="720000" y="1480883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" name="Google Shape;15;p22"/>
          <p:cNvSpPr txBox="1"/>
          <p:nvPr>
            <p:ph idx="3" type="title"/>
          </p:nvPr>
        </p:nvSpPr>
        <p:spPr>
          <a:xfrm>
            <a:off x="720000" y="2990491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" name="Google Shape;16;p22"/>
          <p:cNvSpPr txBox="1"/>
          <p:nvPr>
            <p:ph idx="4" type="title"/>
          </p:nvPr>
        </p:nvSpPr>
        <p:spPr>
          <a:xfrm>
            <a:off x="3306000" y="1480883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" name="Google Shape;17;p22"/>
          <p:cNvSpPr txBox="1"/>
          <p:nvPr>
            <p:ph idx="5" type="title"/>
          </p:nvPr>
        </p:nvSpPr>
        <p:spPr>
          <a:xfrm>
            <a:off x="3306000" y="2990491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" name="Google Shape;18;p22"/>
          <p:cNvSpPr txBox="1"/>
          <p:nvPr>
            <p:ph idx="6" type="title"/>
          </p:nvPr>
        </p:nvSpPr>
        <p:spPr>
          <a:xfrm>
            <a:off x="5892000" y="1480883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" name="Google Shape;19;p22"/>
          <p:cNvSpPr txBox="1"/>
          <p:nvPr>
            <p:ph idx="7" type="title"/>
          </p:nvPr>
        </p:nvSpPr>
        <p:spPr>
          <a:xfrm>
            <a:off x="5892000" y="2990491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" name="Google Shape;20;p22"/>
          <p:cNvSpPr txBox="1"/>
          <p:nvPr>
            <p:ph idx="1" type="subTitle"/>
          </p:nvPr>
        </p:nvSpPr>
        <p:spPr>
          <a:xfrm>
            <a:off x="720000" y="2026450"/>
            <a:ext cx="253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" name="Google Shape;21;p22"/>
          <p:cNvSpPr txBox="1"/>
          <p:nvPr>
            <p:ph idx="8" type="subTitle"/>
          </p:nvPr>
        </p:nvSpPr>
        <p:spPr>
          <a:xfrm>
            <a:off x="3306000" y="2026450"/>
            <a:ext cx="253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22"/>
          <p:cNvSpPr txBox="1"/>
          <p:nvPr>
            <p:ph idx="9" type="subTitle"/>
          </p:nvPr>
        </p:nvSpPr>
        <p:spPr>
          <a:xfrm>
            <a:off x="5892000" y="2026450"/>
            <a:ext cx="253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" name="Google Shape;23;p22"/>
          <p:cNvSpPr txBox="1"/>
          <p:nvPr>
            <p:ph idx="13" type="subTitle"/>
          </p:nvPr>
        </p:nvSpPr>
        <p:spPr>
          <a:xfrm>
            <a:off x="720000" y="3544900"/>
            <a:ext cx="25320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" name="Google Shape;24;p22"/>
          <p:cNvSpPr txBox="1"/>
          <p:nvPr>
            <p:ph idx="14" type="subTitle"/>
          </p:nvPr>
        </p:nvSpPr>
        <p:spPr>
          <a:xfrm>
            <a:off x="3306000" y="3544900"/>
            <a:ext cx="25320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" name="Google Shape;25;p22"/>
          <p:cNvSpPr txBox="1"/>
          <p:nvPr>
            <p:ph idx="15" type="subTitle"/>
          </p:nvPr>
        </p:nvSpPr>
        <p:spPr>
          <a:xfrm>
            <a:off x="5892000" y="3544900"/>
            <a:ext cx="25320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26" name="Google Shape;26;p22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27" name="Google Shape;27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" name="Google Shape;29;p22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30" name="Google Shape;30;p22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2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23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34" name="Google Shape;34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35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" name="Google Shape;36;p23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37" name="Google Shape;37;p23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3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" name="Google Shape;39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2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42" name="Google Shape;42;p2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" name="Google Shape;44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" type="body"/>
          </p:nvPr>
        </p:nvSpPr>
        <p:spPr>
          <a:xfrm>
            <a:off x="720000" y="1090229"/>
            <a:ext cx="77040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46" name="Google Shape;46;p24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47" name="Google Shape;47;p2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811975" y="829350"/>
            <a:ext cx="39933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" type="subTitle"/>
          </p:nvPr>
        </p:nvSpPr>
        <p:spPr>
          <a:xfrm>
            <a:off x="811975" y="1878550"/>
            <a:ext cx="3993300" cy="22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52" name="Google Shape;52;p25"/>
          <p:cNvSpPr/>
          <p:nvPr>
            <p:ph idx="2" type="pic"/>
          </p:nvPr>
        </p:nvSpPr>
        <p:spPr>
          <a:xfrm>
            <a:off x="5088475" y="770400"/>
            <a:ext cx="3081600" cy="3602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53" name="Google Shape;53;p25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54" name="Google Shape;54;p2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" name="Google Shape;56;p25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57" name="Google Shape;57;p25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5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" type="subTitle"/>
          </p:nvPr>
        </p:nvSpPr>
        <p:spPr>
          <a:xfrm>
            <a:off x="4911639" y="2679824"/>
            <a:ext cx="24243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2" type="subTitle"/>
          </p:nvPr>
        </p:nvSpPr>
        <p:spPr>
          <a:xfrm>
            <a:off x="1808050" y="2679824"/>
            <a:ext cx="24243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3" type="subTitle"/>
          </p:nvPr>
        </p:nvSpPr>
        <p:spPr>
          <a:xfrm>
            <a:off x="1808050" y="2244217"/>
            <a:ext cx="2424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4" name="Google Shape;64;p26"/>
          <p:cNvSpPr txBox="1"/>
          <p:nvPr>
            <p:ph idx="4" type="subTitle"/>
          </p:nvPr>
        </p:nvSpPr>
        <p:spPr>
          <a:xfrm>
            <a:off x="4911639" y="2244217"/>
            <a:ext cx="2424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65" name="Google Shape;65;p26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66" name="Google Shape;66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8" name="Google Shape;68;p26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69" name="Google Shape;69;p26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6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7"/>
          <p:cNvSpPr txBox="1"/>
          <p:nvPr>
            <p:ph type="title"/>
          </p:nvPr>
        </p:nvSpPr>
        <p:spPr>
          <a:xfrm>
            <a:off x="1200575" y="2266166"/>
            <a:ext cx="2739300" cy="66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27"/>
          <p:cNvSpPr txBox="1"/>
          <p:nvPr>
            <p:ph idx="1" type="subTitle"/>
          </p:nvPr>
        </p:nvSpPr>
        <p:spPr>
          <a:xfrm>
            <a:off x="1200575" y="2948884"/>
            <a:ext cx="273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74" name="Google Shape;74;p27"/>
          <p:cNvSpPr txBox="1"/>
          <p:nvPr>
            <p:ph idx="2" type="title"/>
          </p:nvPr>
        </p:nvSpPr>
        <p:spPr>
          <a:xfrm>
            <a:off x="1200575" y="977950"/>
            <a:ext cx="2739300" cy="66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27"/>
          <p:cNvSpPr txBox="1"/>
          <p:nvPr>
            <p:ph idx="3" type="subTitle"/>
          </p:nvPr>
        </p:nvSpPr>
        <p:spPr>
          <a:xfrm>
            <a:off x="1200575" y="1669422"/>
            <a:ext cx="27393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76" name="Google Shape;76;p27"/>
          <p:cNvSpPr txBox="1"/>
          <p:nvPr>
            <p:ph idx="4" type="title"/>
          </p:nvPr>
        </p:nvSpPr>
        <p:spPr>
          <a:xfrm>
            <a:off x="1200575" y="3555582"/>
            <a:ext cx="2739300" cy="66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27"/>
          <p:cNvSpPr txBox="1"/>
          <p:nvPr>
            <p:ph idx="5" type="subTitle"/>
          </p:nvPr>
        </p:nvSpPr>
        <p:spPr>
          <a:xfrm>
            <a:off x="1200575" y="4238300"/>
            <a:ext cx="273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pic>
        <p:nvPicPr>
          <p:cNvPr id="78" name="Google Shape;78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28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81" name="Google Shape;81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" name="Google Shape;83;p28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84" name="Google Shape;84;p28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8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28"/>
          <p:cNvSpPr txBox="1"/>
          <p:nvPr>
            <p:ph type="title"/>
          </p:nvPr>
        </p:nvSpPr>
        <p:spPr>
          <a:xfrm>
            <a:off x="3889175" y="1000050"/>
            <a:ext cx="3205500" cy="10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" name="Google Shape;87;p28"/>
          <p:cNvSpPr txBox="1"/>
          <p:nvPr>
            <p:ph idx="1" type="subTitle"/>
          </p:nvPr>
        </p:nvSpPr>
        <p:spPr>
          <a:xfrm>
            <a:off x="3889175" y="2131950"/>
            <a:ext cx="4185300" cy="20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2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29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90" name="Google Shape;90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" name="Google Shape;92;p29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93" name="Google Shape;93;p29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9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" name="Google Shape;96;p29"/>
          <p:cNvSpPr txBox="1"/>
          <p:nvPr>
            <p:ph idx="1" type="subTitle"/>
          </p:nvPr>
        </p:nvSpPr>
        <p:spPr>
          <a:xfrm>
            <a:off x="719975" y="1164450"/>
            <a:ext cx="3748800" cy="1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30"/>
          <p:cNvGrpSpPr/>
          <p:nvPr/>
        </p:nvGrpSpPr>
        <p:grpSpPr>
          <a:xfrm>
            <a:off x="10" y="0"/>
            <a:ext cx="9143991" cy="5143500"/>
            <a:chOff x="10" y="0"/>
            <a:chExt cx="9143991" cy="5143500"/>
          </a:xfrm>
        </p:grpSpPr>
        <p:pic>
          <p:nvPicPr>
            <p:cNvPr id="99" name="Google Shape;99;p3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4416200" y="2886625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" name="Google Shape;101;p30"/>
          <p:cNvGrpSpPr/>
          <p:nvPr/>
        </p:nvGrpSpPr>
        <p:grpSpPr>
          <a:xfrm rot="756538">
            <a:off x="5159567" y="-1927047"/>
            <a:ext cx="4574157" cy="3479412"/>
            <a:chOff x="1522650" y="1117750"/>
            <a:chExt cx="4574075" cy="3479350"/>
          </a:xfrm>
        </p:grpSpPr>
        <p:sp>
          <p:nvSpPr>
            <p:cNvPr id="102" name="Google Shape;102;p30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30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" name="Google Shape;104;p30"/>
          <p:cNvSpPr txBox="1"/>
          <p:nvPr>
            <p:ph type="title"/>
          </p:nvPr>
        </p:nvSpPr>
        <p:spPr>
          <a:xfrm>
            <a:off x="3830000" y="1716400"/>
            <a:ext cx="45081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31"/>
          <p:cNvGrpSpPr/>
          <p:nvPr/>
        </p:nvGrpSpPr>
        <p:grpSpPr>
          <a:xfrm rot="756538">
            <a:off x="-714808" y="-2409347"/>
            <a:ext cx="4574157" cy="3479412"/>
            <a:chOff x="1522650" y="1117750"/>
            <a:chExt cx="4574075" cy="3479350"/>
          </a:xfrm>
        </p:grpSpPr>
        <p:sp>
          <p:nvSpPr>
            <p:cNvPr id="107" name="Google Shape;107;p31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1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" name="Google Shape;109;p31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10" name="Google Shape;110;p3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12;p31"/>
          <p:cNvSpPr txBox="1"/>
          <p:nvPr>
            <p:ph type="title"/>
          </p:nvPr>
        </p:nvSpPr>
        <p:spPr>
          <a:xfrm>
            <a:off x="713225" y="15289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" name="Google Shape;113;p31"/>
          <p:cNvSpPr txBox="1"/>
          <p:nvPr>
            <p:ph idx="1" type="subTitle"/>
          </p:nvPr>
        </p:nvSpPr>
        <p:spPr>
          <a:xfrm>
            <a:off x="713225" y="3640050"/>
            <a:ext cx="48729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32"/>
          <p:cNvSpPr txBox="1"/>
          <p:nvPr>
            <p:ph type="title"/>
          </p:nvPr>
        </p:nvSpPr>
        <p:spPr>
          <a:xfrm>
            <a:off x="720000" y="4014450"/>
            <a:ext cx="57132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17" name="Google Shape;117;p32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118" name="Google Shape;118;p3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" name="Google Shape;120;p32"/>
          <p:cNvGrpSpPr/>
          <p:nvPr/>
        </p:nvGrpSpPr>
        <p:grpSpPr>
          <a:xfrm>
            <a:off x="-896231" y="-2525369"/>
            <a:ext cx="11703669" cy="10221582"/>
            <a:chOff x="-896231" y="-2525369"/>
            <a:chExt cx="11703669" cy="10221582"/>
          </a:xfrm>
        </p:grpSpPr>
        <p:grpSp>
          <p:nvGrpSpPr>
            <p:cNvPr id="121" name="Google Shape;121;p32"/>
            <p:cNvGrpSpPr/>
            <p:nvPr/>
          </p:nvGrpSpPr>
          <p:grpSpPr>
            <a:xfrm flipH="1" rot="-10539848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122" name="Google Shape;122;p32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32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" name="Google Shape;124;p32"/>
            <p:cNvGrpSpPr/>
            <p:nvPr/>
          </p:nvGrpSpPr>
          <p:grpSpPr>
            <a:xfrm>
              <a:off x="-896231" y="-2525369"/>
              <a:ext cx="4573618" cy="3479002"/>
              <a:chOff x="1522650" y="1117750"/>
              <a:chExt cx="4574075" cy="3479350"/>
            </a:xfrm>
          </p:grpSpPr>
          <p:sp>
            <p:nvSpPr>
              <p:cNvPr id="125" name="Google Shape;125;p32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32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3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30" name="Google Shape;130;p3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2" name="Google Shape;132;p34"/>
          <p:cNvGrpSpPr/>
          <p:nvPr/>
        </p:nvGrpSpPr>
        <p:grpSpPr>
          <a:xfrm rot="756538">
            <a:off x="-1069833" y="-1842572"/>
            <a:ext cx="4574157" cy="3479412"/>
            <a:chOff x="1522650" y="1117750"/>
            <a:chExt cx="4574075" cy="3479350"/>
          </a:xfrm>
        </p:grpSpPr>
        <p:sp>
          <p:nvSpPr>
            <p:cNvPr id="133" name="Google Shape;133;p3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3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35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37" name="Google Shape;137;p3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" name="Google Shape;139;p35"/>
          <p:cNvGrpSpPr/>
          <p:nvPr/>
        </p:nvGrpSpPr>
        <p:grpSpPr>
          <a:xfrm>
            <a:off x="-1845124" y="-2180828"/>
            <a:ext cx="12652562" cy="9877041"/>
            <a:chOff x="-1845124" y="-2180828"/>
            <a:chExt cx="12652562" cy="9877041"/>
          </a:xfrm>
        </p:grpSpPr>
        <p:grpSp>
          <p:nvGrpSpPr>
            <p:cNvPr id="140" name="Google Shape;140;p35"/>
            <p:cNvGrpSpPr/>
            <p:nvPr/>
          </p:nvGrpSpPr>
          <p:grpSpPr>
            <a:xfrm>
              <a:off x="-1845124" y="-2180828"/>
              <a:ext cx="4574075" cy="3479350"/>
              <a:chOff x="1522650" y="1117750"/>
              <a:chExt cx="4574075" cy="3479350"/>
            </a:xfrm>
          </p:grpSpPr>
          <p:sp>
            <p:nvSpPr>
              <p:cNvPr id="141" name="Google Shape;141;p3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3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3" name="Google Shape;143;p35"/>
            <p:cNvGrpSpPr/>
            <p:nvPr/>
          </p:nvGrpSpPr>
          <p:grpSpPr>
            <a:xfrm flipH="1" rot="-10539848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144" name="Google Shape;144;p3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3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0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25.png"/><Relationship Id="rId6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"/>
          <p:cNvGrpSpPr/>
          <p:nvPr/>
        </p:nvGrpSpPr>
        <p:grpSpPr>
          <a:xfrm rot="756538">
            <a:off x="-943409" y="-1494947"/>
            <a:ext cx="4574157" cy="3479412"/>
            <a:chOff x="1522650" y="1117750"/>
            <a:chExt cx="4574075" cy="3479350"/>
          </a:xfrm>
        </p:grpSpPr>
        <p:sp>
          <p:nvSpPr>
            <p:cNvPr id="151" name="Google Shape;151;p1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3" name="Google Shape;15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57388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"/>
          <p:cNvSpPr txBox="1"/>
          <p:nvPr>
            <p:ph type="ctrTitle"/>
          </p:nvPr>
        </p:nvSpPr>
        <p:spPr>
          <a:xfrm>
            <a:off x="633301" y="1083225"/>
            <a:ext cx="7056000" cy="16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CL" sz="4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Presentación capstone </a:t>
            </a:r>
            <a:r>
              <a:rPr lang="es-CL" sz="4700">
                <a:latin typeface="Arial"/>
                <a:ea typeface="Arial"/>
                <a:cs typeface="Arial"/>
                <a:sym typeface="Arial"/>
              </a:rPr>
              <a:t>“Trackify”</a:t>
            </a:r>
            <a:endParaRPr sz="4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"/>
          <p:cNvSpPr txBox="1"/>
          <p:nvPr>
            <p:ph idx="1" type="subTitle"/>
          </p:nvPr>
        </p:nvSpPr>
        <p:spPr>
          <a:xfrm>
            <a:off x="3061775" y="2789975"/>
            <a:ext cx="1919100" cy="23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CL" sz="1200"/>
              <a:t>     Ingeniería informática</a:t>
            </a:r>
            <a:endParaRPr sz="1200"/>
          </a:p>
        </p:txBody>
      </p:sp>
      <p:sp>
        <p:nvSpPr>
          <p:cNvPr id="156" name="Google Shape;156;p1"/>
          <p:cNvSpPr txBox="1"/>
          <p:nvPr/>
        </p:nvSpPr>
        <p:spPr>
          <a:xfrm>
            <a:off x="2469125" y="3190250"/>
            <a:ext cx="3104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Escuela de Informática y Telecomunicaciones</a:t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Sede Puente Alto</a:t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2025</a:t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57" name="Google Shape;157;p1"/>
          <p:cNvSpPr txBox="1"/>
          <p:nvPr/>
        </p:nvSpPr>
        <p:spPr>
          <a:xfrm>
            <a:off x="3179975" y="4052100"/>
            <a:ext cx="168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Docente: Juan Pablo Ramos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97328f41c_0_36"/>
          <p:cNvSpPr txBox="1"/>
          <p:nvPr>
            <p:ph type="title"/>
          </p:nvPr>
        </p:nvSpPr>
        <p:spPr>
          <a:xfrm>
            <a:off x="720000" y="4082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Integrantes del proyecto: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/>
          </a:p>
        </p:txBody>
      </p:sp>
      <p:sp>
        <p:nvSpPr>
          <p:cNvPr id="163" name="Google Shape;163;g3897328f41c_0_36"/>
          <p:cNvSpPr txBox="1"/>
          <p:nvPr/>
        </p:nvSpPr>
        <p:spPr>
          <a:xfrm>
            <a:off x="698725" y="1211225"/>
            <a:ext cx="66090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Cargo: </a:t>
            </a: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Analista programador </a:t>
            </a:r>
            <a:endParaRPr sz="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Funciones desempeñadas: </a:t>
            </a: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del proyecto e implementación de base de datos</a:t>
            </a:r>
            <a:endParaRPr sz="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Cargo: </a:t>
            </a: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Jefa de proyecto</a:t>
            </a:r>
            <a:endParaRPr sz="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Funciones desempeñadas: </a:t>
            </a: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Documentación del proyecto y diseño de interfaz de usuario</a:t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}}</a:t>
            </a:r>
            <a:endParaRPr b="1"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Cargo: </a:t>
            </a: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Analista QA</a:t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Funciones desempeñadas: </a:t>
            </a: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Asegurar la calidad del software a lo largo del desarrollo</a:t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897328f41c_0_36"/>
          <p:cNvSpPr txBox="1"/>
          <p:nvPr>
            <p:ph idx="1" type="subTitle"/>
          </p:nvPr>
        </p:nvSpPr>
        <p:spPr>
          <a:xfrm>
            <a:off x="791100" y="1211225"/>
            <a:ext cx="1376100" cy="23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s-CL" sz="1200">
                <a:latin typeface="Cairo"/>
                <a:ea typeface="Cairo"/>
                <a:cs typeface="Cairo"/>
                <a:sym typeface="Cairo"/>
              </a:rPr>
              <a:t>Felipe Carrera</a:t>
            </a:r>
            <a:endParaRPr b="1"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</p:txBody>
      </p:sp>
      <p:sp>
        <p:nvSpPr>
          <p:cNvPr id="165" name="Google Shape;165;g3897328f41c_0_36"/>
          <p:cNvSpPr txBox="1"/>
          <p:nvPr>
            <p:ph idx="1" type="subTitle"/>
          </p:nvPr>
        </p:nvSpPr>
        <p:spPr>
          <a:xfrm>
            <a:off x="791100" y="2257125"/>
            <a:ext cx="1376100" cy="23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latin typeface="Cairo"/>
                <a:ea typeface="Cairo"/>
                <a:cs typeface="Cairo"/>
                <a:sym typeface="Cairo"/>
              </a:rPr>
              <a:t>Fernanda Donoso</a:t>
            </a:r>
            <a:endParaRPr b="1"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</p:txBody>
      </p:sp>
      <p:sp>
        <p:nvSpPr>
          <p:cNvPr id="166" name="Google Shape;166;g3897328f41c_0_36"/>
          <p:cNvSpPr txBox="1"/>
          <p:nvPr>
            <p:ph idx="1" type="subTitle"/>
          </p:nvPr>
        </p:nvSpPr>
        <p:spPr>
          <a:xfrm>
            <a:off x="791100" y="3089725"/>
            <a:ext cx="1376100" cy="23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s-CL" sz="1200">
                <a:latin typeface="Cairo"/>
                <a:ea typeface="Cairo"/>
                <a:cs typeface="Cairo"/>
                <a:sym typeface="Cairo"/>
              </a:rPr>
              <a:t>Duan Guzmán</a:t>
            </a:r>
            <a:endParaRPr b="1"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CL" sz="1200"/>
              <a:t> 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"/>
          <p:cNvSpPr txBox="1"/>
          <p:nvPr>
            <p:ph type="title"/>
          </p:nvPr>
        </p:nvSpPr>
        <p:spPr>
          <a:xfrm>
            <a:off x="560400" y="4777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Sobre </a:t>
            </a:r>
            <a:r>
              <a:rPr b="1" lang="es-CL"/>
              <a:t>Trackify</a:t>
            </a:r>
            <a:endParaRPr b="1"/>
          </a:p>
        </p:txBody>
      </p:sp>
      <p:sp>
        <p:nvSpPr>
          <p:cNvPr id="172" name="Google Shape;172;p2"/>
          <p:cNvSpPr txBox="1"/>
          <p:nvPr>
            <p:ph idx="1" type="subTitle"/>
          </p:nvPr>
        </p:nvSpPr>
        <p:spPr>
          <a:xfrm>
            <a:off x="452488" y="1249484"/>
            <a:ext cx="7767686" cy="26445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Ante las dificultades que las empresas enfrentan a la hora de monitorear y la falta de un sistema de evaluación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práctico para medir el rendimiento de sus equipos y lograr metas de la compañía, </a:t>
            </a:r>
            <a:r>
              <a:rPr b="1" lang="es-CL" sz="1200">
                <a:latin typeface="Cairo"/>
                <a:ea typeface="Cairo"/>
                <a:cs typeface="Cairo"/>
                <a:sym typeface="Cairo"/>
              </a:rPr>
              <a:t>Trackify </a:t>
            </a:r>
            <a:r>
              <a:rPr lang="es-CL" sz="1200">
                <a:latin typeface="Cairo"/>
                <a:ea typeface="Cairo"/>
                <a:cs typeface="Cairo"/>
                <a:sym typeface="Cairo"/>
              </a:rPr>
              <a:t>busca proporcionar a las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organizaciones una herramienta que permita gestionar el monitoreo del desempeño laboral, 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rPr b="1" lang="es-CL" sz="1200">
                <a:latin typeface="Cairo"/>
                <a:ea typeface="Cairo"/>
                <a:cs typeface="Cairo"/>
                <a:sym typeface="Cairo"/>
              </a:rPr>
              <a:t>proponiendo una solución</a:t>
            </a:r>
            <a:r>
              <a:rPr lang="es-CL" sz="1200">
                <a:latin typeface="Cairo"/>
                <a:ea typeface="Cairo"/>
                <a:cs typeface="Cairo"/>
                <a:sym typeface="Cairo"/>
              </a:rPr>
              <a:t> que consiste en el desarrollo de una plataforma  compuesta por una aplicación web y 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una aplicación móvil basadas en arquitectura cliente-servidor, ambas conectadas a un mismo back-end central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basado en Django y Django REST Framework.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t/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rPr b="1" lang="es-CL" sz="1200">
                <a:latin typeface="Cairo"/>
                <a:ea typeface="Cairo"/>
                <a:cs typeface="Cairo"/>
                <a:sym typeface="Cairo"/>
              </a:rPr>
              <a:t>¿El objetivo? 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Centralizar la información de tareas, avances y evaluaciones de los trabajadores, evitando que se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generen reclamos, lo que conlleva a pérdidas monetarias, y poniendo en riesgo la reputación de la empresa,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enfocándose en las áreas de la hotelería y el retail.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t/>
            </a:r>
            <a:endParaRPr sz="120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73" name="Google Shape;173;p2"/>
          <p:cNvSpPr txBox="1"/>
          <p:nvPr/>
        </p:nvSpPr>
        <p:spPr>
          <a:xfrm>
            <a:off x="1178217" y="3696846"/>
            <a:ext cx="685917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TLDR: Ahorrar horas hombre, evitar reclamos y pérdidas en compensaciones.</a:t>
            </a:r>
            <a:endParaRPr/>
          </a:p>
        </p:txBody>
      </p:sp>
      <p:sp>
        <p:nvSpPr>
          <p:cNvPr id="174" name="Google Shape;174;p2"/>
          <p:cNvSpPr/>
          <p:nvPr/>
        </p:nvSpPr>
        <p:spPr>
          <a:xfrm>
            <a:off x="923826" y="3606844"/>
            <a:ext cx="359460" cy="327086"/>
          </a:xfrm>
          <a:custGeom>
            <a:rect b="b" l="l" r="r" t="t"/>
            <a:pathLst>
              <a:path extrusionOk="0" h="11674" w="12193">
                <a:moveTo>
                  <a:pt x="9483" y="1174"/>
                </a:moveTo>
                <a:lnTo>
                  <a:pt x="9483" y="2308"/>
                </a:lnTo>
                <a:cubicBezTo>
                  <a:pt x="9483" y="2497"/>
                  <a:pt x="9641" y="2655"/>
                  <a:pt x="9830" y="2655"/>
                </a:cubicBezTo>
                <a:lnTo>
                  <a:pt x="10901" y="2655"/>
                </a:lnTo>
                <a:lnTo>
                  <a:pt x="9515" y="4041"/>
                </a:lnTo>
                <a:lnTo>
                  <a:pt x="8097" y="4041"/>
                </a:lnTo>
                <a:lnTo>
                  <a:pt x="8097" y="2560"/>
                </a:lnTo>
                <a:lnTo>
                  <a:pt x="9483" y="1174"/>
                </a:lnTo>
                <a:close/>
                <a:moveTo>
                  <a:pt x="4885" y="6181"/>
                </a:moveTo>
                <a:cubicBezTo>
                  <a:pt x="5033" y="6181"/>
                  <a:pt x="5183" y="6212"/>
                  <a:pt x="5325" y="6278"/>
                </a:cubicBezTo>
                <a:lnTo>
                  <a:pt x="4600" y="7003"/>
                </a:lnTo>
                <a:cubicBezTo>
                  <a:pt x="4474" y="7129"/>
                  <a:pt x="4474" y="7349"/>
                  <a:pt x="4600" y="7475"/>
                </a:cubicBezTo>
                <a:cubicBezTo>
                  <a:pt x="4663" y="7538"/>
                  <a:pt x="4750" y="7570"/>
                  <a:pt x="4836" y="7570"/>
                </a:cubicBezTo>
                <a:cubicBezTo>
                  <a:pt x="4923" y="7570"/>
                  <a:pt x="5010" y="7538"/>
                  <a:pt x="5073" y="7475"/>
                </a:cubicBezTo>
                <a:lnTo>
                  <a:pt x="5797" y="6751"/>
                </a:lnTo>
                <a:lnTo>
                  <a:pt x="5797" y="6751"/>
                </a:lnTo>
                <a:cubicBezTo>
                  <a:pt x="5986" y="7160"/>
                  <a:pt x="5892" y="7633"/>
                  <a:pt x="5577" y="7948"/>
                </a:cubicBezTo>
                <a:cubicBezTo>
                  <a:pt x="5388" y="8137"/>
                  <a:pt x="5128" y="8231"/>
                  <a:pt x="4864" y="8231"/>
                </a:cubicBezTo>
                <a:cubicBezTo>
                  <a:pt x="4600" y="8231"/>
                  <a:pt x="4332" y="8137"/>
                  <a:pt x="4127" y="7948"/>
                </a:cubicBezTo>
                <a:cubicBezTo>
                  <a:pt x="3749" y="7538"/>
                  <a:pt x="3749" y="6877"/>
                  <a:pt x="4127" y="6499"/>
                </a:cubicBezTo>
                <a:cubicBezTo>
                  <a:pt x="4333" y="6293"/>
                  <a:pt x="4606" y="6181"/>
                  <a:pt x="4885" y="6181"/>
                </a:cubicBezTo>
                <a:close/>
                <a:moveTo>
                  <a:pt x="4897" y="4831"/>
                </a:moveTo>
                <a:cubicBezTo>
                  <a:pt x="5396" y="4831"/>
                  <a:pt x="5890" y="4990"/>
                  <a:pt x="6301" y="5301"/>
                </a:cubicBezTo>
                <a:lnTo>
                  <a:pt x="5829" y="5774"/>
                </a:lnTo>
                <a:cubicBezTo>
                  <a:pt x="5553" y="5590"/>
                  <a:pt x="5233" y="5499"/>
                  <a:pt x="4911" y="5499"/>
                </a:cubicBezTo>
                <a:cubicBezTo>
                  <a:pt x="4460" y="5499"/>
                  <a:pt x="4004" y="5677"/>
                  <a:pt x="3655" y="6026"/>
                </a:cubicBezTo>
                <a:cubicBezTo>
                  <a:pt x="2993" y="6688"/>
                  <a:pt x="2993" y="7790"/>
                  <a:pt x="3655" y="8420"/>
                </a:cubicBezTo>
                <a:cubicBezTo>
                  <a:pt x="3986" y="8751"/>
                  <a:pt x="4427" y="8917"/>
                  <a:pt x="4864" y="8917"/>
                </a:cubicBezTo>
                <a:cubicBezTo>
                  <a:pt x="5301" y="8917"/>
                  <a:pt x="5734" y="8751"/>
                  <a:pt x="6049" y="8420"/>
                </a:cubicBezTo>
                <a:cubicBezTo>
                  <a:pt x="6648" y="7822"/>
                  <a:pt x="6742" y="6908"/>
                  <a:pt x="6301" y="6246"/>
                </a:cubicBezTo>
                <a:lnTo>
                  <a:pt x="6774" y="5774"/>
                </a:lnTo>
                <a:lnTo>
                  <a:pt x="6774" y="5774"/>
                </a:lnTo>
                <a:cubicBezTo>
                  <a:pt x="7467" y="6719"/>
                  <a:pt x="7404" y="8074"/>
                  <a:pt x="6585" y="8924"/>
                </a:cubicBezTo>
                <a:cubicBezTo>
                  <a:pt x="6112" y="9397"/>
                  <a:pt x="5498" y="9633"/>
                  <a:pt x="4883" y="9633"/>
                </a:cubicBezTo>
                <a:cubicBezTo>
                  <a:pt x="4269" y="9633"/>
                  <a:pt x="3655" y="9397"/>
                  <a:pt x="3182" y="8924"/>
                </a:cubicBezTo>
                <a:cubicBezTo>
                  <a:pt x="2237" y="7979"/>
                  <a:pt x="2237" y="6499"/>
                  <a:pt x="3182" y="5553"/>
                </a:cubicBezTo>
                <a:cubicBezTo>
                  <a:pt x="3667" y="5068"/>
                  <a:pt x="4286" y="4831"/>
                  <a:pt x="4897" y="4831"/>
                </a:cubicBezTo>
                <a:close/>
                <a:moveTo>
                  <a:pt x="4873" y="3463"/>
                </a:moveTo>
                <a:cubicBezTo>
                  <a:pt x="5728" y="3463"/>
                  <a:pt x="6583" y="3748"/>
                  <a:pt x="7278" y="4325"/>
                </a:cubicBezTo>
                <a:lnTo>
                  <a:pt x="6805" y="4797"/>
                </a:lnTo>
                <a:cubicBezTo>
                  <a:pt x="6228" y="4353"/>
                  <a:pt x="5533" y="4125"/>
                  <a:pt x="4844" y="4125"/>
                </a:cubicBezTo>
                <a:cubicBezTo>
                  <a:pt x="4065" y="4125"/>
                  <a:pt x="3294" y="4416"/>
                  <a:pt x="2710" y="5018"/>
                </a:cubicBezTo>
                <a:cubicBezTo>
                  <a:pt x="1481" y="6246"/>
                  <a:pt x="1481" y="8168"/>
                  <a:pt x="2710" y="9397"/>
                </a:cubicBezTo>
                <a:cubicBezTo>
                  <a:pt x="3324" y="10011"/>
                  <a:pt x="4112" y="10318"/>
                  <a:pt x="4899" y="10318"/>
                </a:cubicBezTo>
                <a:cubicBezTo>
                  <a:pt x="5687" y="10318"/>
                  <a:pt x="6474" y="10011"/>
                  <a:pt x="7089" y="9397"/>
                </a:cubicBezTo>
                <a:cubicBezTo>
                  <a:pt x="8223" y="8263"/>
                  <a:pt x="8255" y="6467"/>
                  <a:pt x="7309" y="5301"/>
                </a:cubicBezTo>
                <a:lnTo>
                  <a:pt x="7782" y="4829"/>
                </a:lnTo>
                <a:lnTo>
                  <a:pt x="7782" y="4829"/>
                </a:lnTo>
                <a:cubicBezTo>
                  <a:pt x="8979" y="6278"/>
                  <a:pt x="8885" y="8483"/>
                  <a:pt x="7530" y="9870"/>
                </a:cubicBezTo>
                <a:cubicBezTo>
                  <a:pt x="6790" y="10594"/>
                  <a:pt x="5821" y="10956"/>
                  <a:pt x="4856" y="10956"/>
                </a:cubicBezTo>
                <a:cubicBezTo>
                  <a:pt x="3891" y="10956"/>
                  <a:pt x="2930" y="10594"/>
                  <a:pt x="2206" y="9870"/>
                </a:cubicBezTo>
                <a:cubicBezTo>
                  <a:pt x="756" y="8420"/>
                  <a:pt x="756" y="6026"/>
                  <a:pt x="2206" y="4545"/>
                </a:cubicBezTo>
                <a:cubicBezTo>
                  <a:pt x="2941" y="3827"/>
                  <a:pt x="3907" y="3463"/>
                  <a:pt x="4873" y="3463"/>
                </a:cubicBezTo>
                <a:close/>
                <a:moveTo>
                  <a:pt x="9899" y="0"/>
                </a:moveTo>
                <a:cubicBezTo>
                  <a:pt x="9813" y="0"/>
                  <a:pt x="9722" y="32"/>
                  <a:pt x="9641" y="103"/>
                </a:cubicBezTo>
                <a:lnTo>
                  <a:pt x="7561" y="2182"/>
                </a:lnTo>
                <a:cubicBezTo>
                  <a:pt x="7467" y="2277"/>
                  <a:pt x="7435" y="2340"/>
                  <a:pt x="7435" y="2434"/>
                </a:cubicBezTo>
                <a:lnTo>
                  <a:pt x="7435" y="3600"/>
                </a:lnTo>
                <a:cubicBezTo>
                  <a:pt x="6670" y="3071"/>
                  <a:pt x="5769" y="2807"/>
                  <a:pt x="4868" y="2807"/>
                </a:cubicBezTo>
                <a:cubicBezTo>
                  <a:pt x="3731" y="2807"/>
                  <a:pt x="2595" y="3229"/>
                  <a:pt x="1733" y="4073"/>
                </a:cubicBezTo>
                <a:cubicBezTo>
                  <a:pt x="0" y="5805"/>
                  <a:pt x="0" y="8641"/>
                  <a:pt x="1733" y="10374"/>
                </a:cubicBezTo>
                <a:cubicBezTo>
                  <a:pt x="2599" y="11240"/>
                  <a:pt x="3741" y="11673"/>
                  <a:pt x="4883" y="11673"/>
                </a:cubicBezTo>
                <a:cubicBezTo>
                  <a:pt x="6026" y="11673"/>
                  <a:pt x="7168" y="11240"/>
                  <a:pt x="8034" y="10374"/>
                </a:cubicBezTo>
                <a:cubicBezTo>
                  <a:pt x="9578" y="8861"/>
                  <a:pt x="9735" y="6436"/>
                  <a:pt x="8538" y="4703"/>
                </a:cubicBezTo>
                <a:lnTo>
                  <a:pt x="9672" y="4703"/>
                </a:lnTo>
                <a:cubicBezTo>
                  <a:pt x="9767" y="4703"/>
                  <a:pt x="9893" y="4671"/>
                  <a:pt x="9924" y="4608"/>
                </a:cubicBezTo>
                <a:lnTo>
                  <a:pt x="12004" y="2497"/>
                </a:lnTo>
                <a:cubicBezTo>
                  <a:pt x="12193" y="2308"/>
                  <a:pt x="12035" y="1962"/>
                  <a:pt x="11783" y="1962"/>
                </a:cubicBezTo>
                <a:lnTo>
                  <a:pt x="10239" y="1962"/>
                </a:lnTo>
                <a:lnTo>
                  <a:pt x="10239" y="355"/>
                </a:lnTo>
                <a:cubicBezTo>
                  <a:pt x="10239" y="141"/>
                  <a:pt x="10080" y="0"/>
                  <a:pt x="989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0950" y="2851975"/>
            <a:ext cx="2704800" cy="27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97328f41c_4_0"/>
          <p:cNvSpPr txBox="1"/>
          <p:nvPr>
            <p:ph type="title"/>
          </p:nvPr>
        </p:nvSpPr>
        <p:spPr>
          <a:xfrm>
            <a:off x="670575" y="3050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Alcances:</a:t>
            </a:r>
            <a:endParaRPr b="1"/>
          </a:p>
        </p:txBody>
      </p:sp>
      <p:sp>
        <p:nvSpPr>
          <p:cNvPr id="181" name="Google Shape;181;g3897328f41c_4_0"/>
          <p:cNvSpPr txBox="1"/>
          <p:nvPr>
            <p:ph idx="1" type="subTitle"/>
          </p:nvPr>
        </p:nvSpPr>
        <p:spPr>
          <a:xfrm>
            <a:off x="436025" y="1060700"/>
            <a:ext cx="8411100" cy="3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latin typeface="Space Grotesk"/>
                <a:ea typeface="Space Grotesk"/>
                <a:cs typeface="Space Grotesk"/>
                <a:sym typeface="Space Grotesk"/>
              </a:rPr>
              <a:t>Que hace el Sistema: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Administración de usuarios, roles y permisos.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La gestión de tareas y equipos de trabajo.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Evaluación de desempeño con calificaciones y métricas.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Reportes exportables y dashboards.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Comunicación mediante notificaciones.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latin typeface="Space Grotesk"/>
                <a:ea typeface="Space Grotesk"/>
                <a:cs typeface="Space Grotesk"/>
                <a:sym typeface="Space Grotesk"/>
              </a:rPr>
              <a:t>Qué no hace: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No contempla control biométrico de asistencia.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No incluirá gestión de remuneraciones o pagos.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97328f41c_4_5"/>
          <p:cNvSpPr txBox="1"/>
          <p:nvPr>
            <p:ph type="title"/>
          </p:nvPr>
        </p:nvSpPr>
        <p:spPr>
          <a:xfrm>
            <a:off x="510000" y="3421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Lista de requerimientos funcionales</a:t>
            </a:r>
            <a:endParaRPr b="1"/>
          </a:p>
        </p:txBody>
      </p:sp>
      <p:sp>
        <p:nvSpPr>
          <p:cNvPr id="187" name="Google Shape;187;g3897328f41c_4_5"/>
          <p:cNvSpPr txBox="1"/>
          <p:nvPr>
            <p:ph idx="1" type="subTitle"/>
          </p:nvPr>
        </p:nvSpPr>
        <p:spPr>
          <a:xfrm>
            <a:off x="423700" y="760150"/>
            <a:ext cx="8411100" cy="3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RF.2- Iniciar sesión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RF.3- Cerrar sesión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RF.4- Diferenciar el acceso según roles (Gerente, Supervisor y Trabajador)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RF.5- Modificación de contraseñas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RF.6- Recuperar la contraseña mediante SMS.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Administración de: 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 - RF.8- Usuarios del sistema 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 - RF.9- Departamentos o áreas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 - RF.11- Tareas asignadas a supervisores (por gerentes) 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 - RF.14- Tareas asignadas a trabajadores (por supervisores)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RF.13 Generar y visualizar de dashboards de productividad.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RF.16-Calificar el desempeño de los Trabajadores y supervisores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RF.21 Envío de notificaciones sobre nuevas tareas o evaluaciones.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RF.22 Consultar historial de desempeño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RF.24 Generar Globales de desempeño y Individuales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RF.25- Aplicar filtros en los reportes (fecha, área, estado de tareas y responsables).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RF.26- Exportar reportes en PDF y Excel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RF.28- Enviar notificaciones cuando una tarea esté por vencer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97328f41c_4_10"/>
          <p:cNvSpPr txBox="1"/>
          <p:nvPr>
            <p:ph type="title"/>
          </p:nvPr>
        </p:nvSpPr>
        <p:spPr>
          <a:xfrm>
            <a:off x="510000" y="3421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Lista de requerimientos no funcionales</a:t>
            </a:r>
            <a:endParaRPr b="1"/>
          </a:p>
        </p:txBody>
      </p:sp>
      <p:sp>
        <p:nvSpPr>
          <p:cNvPr id="193" name="Google Shape;193;g3897328f41c_4_10"/>
          <p:cNvSpPr txBox="1"/>
          <p:nvPr>
            <p:ph idx="1" type="subTitle"/>
          </p:nvPr>
        </p:nvSpPr>
        <p:spPr>
          <a:xfrm>
            <a:off x="436025" y="1163625"/>
            <a:ext cx="8411100" cy="3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RNF.1    Disponibilidad en versión web y móvil.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RNF.2    La aplicación web debe ser responsiva y funcionar en distintos navegadores.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RNF.3    La aplicación móvil debe ser compatible con diferentes dispositivos y tamaños de pantalla.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RNF.4    El tiempo de respuesta del sistema no debe superar los 3 segundos.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RNF.5    Las contraseñas deben almacenarse en forma encriptada.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RNF.6    La aplicación móvil debe tener una interfaz simple y optimizada para Trabajadores.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RNF.7    Mostrar mensajes de error claros al usuario.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RNF.8    El sistema web debe implementarse bajo arquitectura cliente-servidor.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RNF.9    El código del sistema debe estar versionado en un repositorio Git.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RNF.10    Exponer un API REST consumible tanto por la aplicación web como por la móvil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RNF.11    Disponibilidad al menos el 95% del tiempo (web)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97328f41c_4_17"/>
          <p:cNvSpPr txBox="1"/>
          <p:nvPr>
            <p:ph type="title"/>
          </p:nvPr>
        </p:nvSpPr>
        <p:spPr>
          <a:xfrm>
            <a:off x="510000" y="3421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Lista de requerimientos no funcionales</a:t>
            </a:r>
            <a:endParaRPr b="1"/>
          </a:p>
        </p:txBody>
      </p:sp>
      <p:sp>
        <p:nvSpPr>
          <p:cNvPr id="199" name="Google Shape;199;g3897328f41c_4_17"/>
          <p:cNvSpPr txBox="1"/>
          <p:nvPr>
            <p:ph idx="1" type="subTitle"/>
          </p:nvPr>
        </p:nvSpPr>
        <p:spPr>
          <a:xfrm>
            <a:off x="283675" y="1085400"/>
            <a:ext cx="8411100" cy="3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RNF.12    Contar con un servidor web y una base de datos.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RNF.13    La aplicación móvil debe funcionar con una conexión mínima de 3G o superior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RNF.14    Diferenciar acceso según roles (gerente, supervisor, trabajador), restringiendo funcionalidades de acuerdo con el perfil de usuario.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RNF.15    Todas las comunicaciones entre la aplicación web/móvil y el servidor debe realizarse a través de HTTPS para proteger la información.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RNF.16    Los formularios deben incluir validaciones en tiempo real para reducir errores en ingreso de datos.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RNF.17    Capacidad de recuperación en menos de 1 hora en caso de falla crítica del servidor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RNF.18    El servidor debe contar con respaldo automático diario de la base de datos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RNF.19    La aplicación móvil debe ejecutarse en Android (8.0 o superior) y iOS (12.0 o superior).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RNF.20    Desarrollo en forma modular, de manera que nuevas funcionalidades puedan integrarse sin afectar los módulos existentes.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RNF.21    Documentación técnica y manual de usuario para asegurar la continuidad del mantenimiento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RNF.22    La aplicación debe garantizar la correcta ejecución de todas las operaciones definidas en los requisitos funcionales (RF).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iro"/>
              <a:buChar char="●"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RNF.23    Permitir la trazabilidad completa de tareas, proyectos y evaluaciones, asegurando que no existan inconsistencias en la información (web)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"/>
          <p:cNvSpPr txBox="1"/>
          <p:nvPr>
            <p:ph type="title"/>
          </p:nvPr>
        </p:nvSpPr>
        <p:spPr>
          <a:xfrm>
            <a:off x="720000" y="37466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Diagrama de casos de uso</a:t>
            </a:r>
            <a:endParaRPr/>
          </a:p>
        </p:txBody>
      </p:sp>
      <p:pic>
        <p:nvPicPr>
          <p:cNvPr id="205" name="Google Shape;205;p3" title="caso_uso Use Case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0225" y="947375"/>
            <a:ext cx="5363725" cy="4038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/>
          <p:nvPr>
            <p:ph type="title"/>
          </p:nvPr>
        </p:nvSpPr>
        <p:spPr>
          <a:xfrm>
            <a:off x="350469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Matriz de riesgo</a:t>
            </a:r>
            <a:endParaRPr/>
          </a:p>
        </p:txBody>
      </p:sp>
      <p:graphicFrame>
        <p:nvGraphicFramePr>
          <p:cNvPr id="211" name="Google Shape;211;p13"/>
          <p:cNvGraphicFramePr/>
          <p:nvPr/>
        </p:nvGraphicFramePr>
        <p:xfrm>
          <a:off x="350469" y="1140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{5CD91538-9938-47FD-95E9-EE6563D29F9D}</a:tableStyleId>
              </a:tblPr>
              <a:tblGrid>
                <a:gridCol w="671725"/>
                <a:gridCol w="2374900"/>
                <a:gridCol w="949450"/>
                <a:gridCol w="973325"/>
                <a:gridCol w="726550"/>
                <a:gridCol w="2725200"/>
              </a:tblGrid>
              <a:tr h="444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ID Riesgo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Riesgo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Categoría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00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Probabilidad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Impacto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Acción de Mitigación y responsable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R-1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Fallas en la sincronización entre la app móvil y la plataforma web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Técnico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3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3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Implementar pruebas de integración continuas y monitoreo de sincronización- </a:t>
                      </a:r>
                      <a:r>
                        <a:rPr b="1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Equipo TI</a:t>
                      </a:r>
                      <a:endParaRPr b="1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R-2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Sobrecarga del servidor por alta concurrencia de usuarios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Técnico</a:t>
                      </a:r>
                      <a:endParaRPr/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3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2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Mantener pruebas en múltiples dispositivos y versiones; actualizar librerías - </a:t>
                      </a:r>
                      <a:r>
                        <a:rPr b="1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Programador</a:t>
                      </a:r>
                      <a:endParaRPr b="1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R-6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Acceso no autorizado a datos sensibles de empleados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Seguridad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2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4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Aplicar políticas de contraseñas seguras y MFA</a:t>
                      </a:r>
                      <a:r>
                        <a:rPr b="1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 -Equipo de Ciberseguridad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R-7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Robo de credenciales de usuario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Seguridad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3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3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Realizar pruebas de penetración y auditorías de seguridad periódicas - </a:t>
                      </a:r>
                      <a:r>
                        <a:rPr b="1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Equipo de Ciberseguridad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R-21</a:t>
                      </a:r>
                      <a:endParaRPr b="1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Uso de dispositivos móviles obsoletos por parte del personal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Técnico/UX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3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2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Establecer requisitos mínimos de hardware y plan de renovación de dispositivos- </a:t>
                      </a:r>
                      <a:r>
                        <a:rPr b="1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Jefatura de Proyecto- Equipo TI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R-30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Inestabilidad por cambios en APIs externas (ej. notificaciones push)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CL" sz="9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Proyecto/Técnico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2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4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Ejecutar pruebas de carga y estrés en horarios simulados de alta demanda-</a:t>
                      </a:r>
                      <a:r>
                        <a:rPr b="1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Equipo QA</a:t>
                      </a:r>
                      <a:endParaRPr b="1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97328f41c_0_74"/>
          <p:cNvSpPr txBox="1"/>
          <p:nvPr>
            <p:ph type="title"/>
          </p:nvPr>
        </p:nvSpPr>
        <p:spPr>
          <a:xfrm>
            <a:off x="1679250" y="1843675"/>
            <a:ext cx="57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3400"/>
              <a:t>Arquitectura del sistema</a:t>
            </a:r>
            <a:endParaRPr sz="3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97328f41c_0_16"/>
          <p:cNvSpPr txBox="1"/>
          <p:nvPr>
            <p:ph type="title"/>
          </p:nvPr>
        </p:nvSpPr>
        <p:spPr>
          <a:xfrm>
            <a:off x="666800" y="44016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Diagrama de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Actividades</a:t>
            </a:r>
            <a:endParaRPr/>
          </a:p>
        </p:txBody>
      </p:sp>
      <p:pic>
        <p:nvPicPr>
          <p:cNvPr id="222" name="Google Shape;222;g3897328f41c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9025" y="559475"/>
            <a:ext cx="3632924" cy="402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897328f41c_0_16"/>
          <p:cNvSpPr txBox="1"/>
          <p:nvPr/>
        </p:nvSpPr>
        <p:spPr>
          <a:xfrm>
            <a:off x="707900" y="157535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110830"/>
                </a:solidFill>
                <a:latin typeface="Space Grotesk"/>
                <a:ea typeface="Space Grotesk"/>
                <a:cs typeface="Space Grotesk"/>
                <a:sym typeface="Space Grotesk"/>
              </a:rPr>
              <a:t>D.A- 17– “Generar reportes por área o trabajador”</a:t>
            </a:r>
            <a:endParaRPr sz="900">
              <a:solidFill>
                <a:srgbClr val="11083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"/>
          <p:cNvSpPr txBox="1"/>
          <p:nvPr>
            <p:ph type="title"/>
          </p:nvPr>
        </p:nvSpPr>
        <p:spPr>
          <a:xfrm>
            <a:off x="658726" y="27927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2800"/>
              <a:t> Diagrama de secuencias</a:t>
            </a:r>
            <a:endParaRPr sz="2800"/>
          </a:p>
        </p:txBody>
      </p:sp>
      <p:sp>
        <p:nvSpPr>
          <p:cNvPr id="229" name="Google Shape;229;p7"/>
          <p:cNvSpPr txBox="1"/>
          <p:nvPr/>
        </p:nvSpPr>
        <p:spPr>
          <a:xfrm>
            <a:off x="767107" y="885600"/>
            <a:ext cx="536149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900" u="none" cap="none" strike="noStrike">
                <a:solidFill>
                  <a:srgbClr val="110830"/>
                </a:solidFill>
                <a:latin typeface="Space Grotesk"/>
                <a:ea typeface="Space Grotesk"/>
                <a:cs typeface="Space Grotesk"/>
                <a:sym typeface="Space Grotesk"/>
              </a:rPr>
              <a:t>CU011-Administrar tareas para supervisores</a:t>
            </a:r>
            <a:endParaRPr/>
          </a:p>
        </p:txBody>
      </p:sp>
      <p:pic>
        <p:nvPicPr>
          <p:cNvPr id="230" name="Google Shape;230;p7"/>
          <p:cNvPicPr preferRelativeResize="0"/>
          <p:nvPr/>
        </p:nvPicPr>
        <p:blipFill rotWithShape="1">
          <a:blip r:embed="rId3">
            <a:alphaModFix/>
          </a:blip>
          <a:srcRect b="0" l="0" r="-100" t="910"/>
          <a:stretch/>
        </p:blipFill>
        <p:spPr>
          <a:xfrm>
            <a:off x="289469" y="1218981"/>
            <a:ext cx="4955161" cy="3235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9819" y="1150057"/>
            <a:ext cx="3671365" cy="3527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"/>
          <p:cNvSpPr txBox="1"/>
          <p:nvPr>
            <p:ph type="title"/>
          </p:nvPr>
        </p:nvSpPr>
        <p:spPr>
          <a:xfrm>
            <a:off x="720000" y="42547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2800"/>
              <a:t>Diagrama de </a:t>
            </a:r>
            <a:br>
              <a:rPr lang="es-CL" sz="2800"/>
            </a:br>
            <a:r>
              <a:rPr lang="es-CL" sz="2800"/>
              <a:t>componentes</a:t>
            </a:r>
            <a:endParaRPr sz="2800"/>
          </a:p>
        </p:txBody>
      </p:sp>
      <p:sp>
        <p:nvSpPr>
          <p:cNvPr id="237" name="Google Shape;237;p8"/>
          <p:cNvSpPr txBox="1"/>
          <p:nvPr/>
        </p:nvSpPr>
        <p:spPr>
          <a:xfrm>
            <a:off x="757707" y="194646"/>
            <a:ext cx="536149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900" u="none" cap="none" strike="noStrike">
                <a:solidFill>
                  <a:srgbClr val="110830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Vista de desarrollo o despliegue</a:t>
            </a:r>
            <a:endParaRPr/>
          </a:p>
        </p:txBody>
      </p:sp>
      <p:pic>
        <p:nvPicPr>
          <p:cNvPr id="238" name="Google Shape;23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4545" y="194646"/>
            <a:ext cx="4020533" cy="4754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"/>
          <p:cNvSpPr txBox="1"/>
          <p:nvPr>
            <p:ph type="title"/>
          </p:nvPr>
        </p:nvSpPr>
        <p:spPr>
          <a:xfrm>
            <a:off x="644586" y="58573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2000"/>
              <a:t>Diagrama de </a:t>
            </a:r>
            <a:br>
              <a:rPr lang="es-CL" sz="2000"/>
            </a:br>
            <a:r>
              <a:rPr lang="es-CL" sz="2400"/>
              <a:t>Despliegue - Web</a:t>
            </a:r>
            <a:br>
              <a:rPr lang="es-CL" sz="2000"/>
            </a:br>
            <a:br>
              <a:rPr lang="es-CL" sz="2000"/>
            </a:br>
            <a:endParaRPr sz="2000"/>
          </a:p>
        </p:txBody>
      </p:sp>
      <p:sp>
        <p:nvSpPr>
          <p:cNvPr id="244" name="Google Shape;244;p9"/>
          <p:cNvSpPr txBox="1"/>
          <p:nvPr/>
        </p:nvSpPr>
        <p:spPr>
          <a:xfrm>
            <a:off x="644586" y="232353"/>
            <a:ext cx="536149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900" u="none" cap="none" strike="noStrike">
                <a:solidFill>
                  <a:srgbClr val="110830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Vista de desarrollo o despliegue</a:t>
            </a:r>
            <a:endParaRPr/>
          </a:p>
        </p:txBody>
      </p:sp>
      <p:pic>
        <p:nvPicPr>
          <p:cNvPr id="245" name="Google Shape;24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3768" y="716437"/>
            <a:ext cx="5177746" cy="3440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"/>
          <p:cNvSpPr txBox="1"/>
          <p:nvPr>
            <p:ph type="title"/>
          </p:nvPr>
        </p:nvSpPr>
        <p:spPr>
          <a:xfrm>
            <a:off x="644586" y="58573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2000"/>
              <a:t>Diagrama de </a:t>
            </a:r>
            <a:br>
              <a:rPr lang="es-CL" sz="2000"/>
            </a:br>
            <a:r>
              <a:rPr lang="es-CL" sz="2400"/>
              <a:t>Despliegue - APP</a:t>
            </a:r>
            <a:br>
              <a:rPr lang="es-CL" sz="2000"/>
            </a:br>
            <a:br>
              <a:rPr lang="es-CL" sz="2000"/>
            </a:br>
            <a:endParaRPr sz="2000"/>
          </a:p>
        </p:txBody>
      </p:sp>
      <p:sp>
        <p:nvSpPr>
          <p:cNvPr id="251" name="Google Shape;251;p10"/>
          <p:cNvSpPr txBox="1"/>
          <p:nvPr/>
        </p:nvSpPr>
        <p:spPr>
          <a:xfrm>
            <a:off x="644586" y="232353"/>
            <a:ext cx="536149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900" u="none" cap="none" strike="noStrike">
                <a:solidFill>
                  <a:srgbClr val="110830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Vista de desarrollo o despliegue</a:t>
            </a:r>
            <a:endParaRPr/>
          </a:p>
        </p:txBody>
      </p:sp>
      <p:pic>
        <p:nvPicPr>
          <p:cNvPr id="252" name="Google Shape;2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0922" y="670924"/>
            <a:ext cx="4571343" cy="3252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"/>
          <p:cNvSpPr txBox="1"/>
          <p:nvPr>
            <p:ph type="title"/>
          </p:nvPr>
        </p:nvSpPr>
        <p:spPr>
          <a:xfrm>
            <a:off x="644586" y="48675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2000"/>
              <a:t>Diagrama de paquetes</a:t>
            </a:r>
            <a:endParaRPr sz="2000"/>
          </a:p>
        </p:txBody>
      </p:sp>
      <p:sp>
        <p:nvSpPr>
          <p:cNvPr id="258" name="Google Shape;258;p11"/>
          <p:cNvSpPr txBox="1"/>
          <p:nvPr/>
        </p:nvSpPr>
        <p:spPr>
          <a:xfrm>
            <a:off x="644586" y="232353"/>
            <a:ext cx="536149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900" u="none" cap="none" strike="noStrike">
                <a:solidFill>
                  <a:srgbClr val="110830"/>
                </a:solidFill>
                <a:latin typeface="Space Grotesk"/>
                <a:ea typeface="Space Grotesk"/>
                <a:cs typeface="Space Grotesk"/>
                <a:sym typeface="Space Grotesk"/>
              </a:rPr>
              <a:t>Otros diagramas parte del 4+1:</a:t>
            </a:r>
            <a:endParaRPr b="0" i="0" sz="900" u="none" cap="none" strike="noStrike">
              <a:solidFill>
                <a:srgbClr val="11083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259" name="Google Shape;25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6400" y="1042950"/>
            <a:ext cx="4756251" cy="372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"/>
          <p:cNvSpPr txBox="1"/>
          <p:nvPr>
            <p:ph type="title"/>
          </p:nvPr>
        </p:nvSpPr>
        <p:spPr>
          <a:xfrm>
            <a:off x="720000" y="39789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3200"/>
              <a:t>Diagrama de comunicación:</a:t>
            </a:r>
            <a:br>
              <a:rPr lang="es-CL" sz="3200"/>
            </a:br>
            <a:br>
              <a:rPr lang="es-CL" sz="3200"/>
            </a:br>
            <a:r>
              <a:rPr lang="es-CL" sz="900">
                <a:solidFill>
                  <a:srgbClr val="110830"/>
                </a:solidFill>
              </a:rPr>
              <a:t>7.- Realizar pago - clientes</a:t>
            </a:r>
            <a:endParaRPr/>
          </a:p>
        </p:txBody>
      </p:sp>
      <p:pic>
        <p:nvPicPr>
          <p:cNvPr id="265" name="Google Shape;26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50" y="1691775"/>
            <a:ext cx="7297900" cy="311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"/>
          <p:cNvSpPr txBox="1"/>
          <p:nvPr>
            <p:ph type="title"/>
          </p:nvPr>
        </p:nvSpPr>
        <p:spPr>
          <a:xfrm>
            <a:off x="658726" y="27927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2800"/>
              <a:t> Diagrama de Base Datos (Relacional)</a:t>
            </a:r>
            <a:endParaRPr sz="2800"/>
          </a:p>
        </p:txBody>
      </p:sp>
      <p:pic>
        <p:nvPicPr>
          <p:cNvPr id="271" name="Google Shape;271;p5"/>
          <p:cNvPicPr preferRelativeResize="0"/>
          <p:nvPr/>
        </p:nvPicPr>
        <p:blipFill rotWithShape="1">
          <a:blip r:embed="rId3">
            <a:alphaModFix/>
          </a:blip>
          <a:srcRect b="2081" l="761" r="0" t="0"/>
          <a:stretch/>
        </p:blipFill>
        <p:spPr>
          <a:xfrm>
            <a:off x="1536650" y="1017925"/>
            <a:ext cx="6033951" cy="393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Modelo TO BE</a:t>
            </a:r>
            <a:endParaRPr/>
          </a:p>
        </p:txBody>
      </p:sp>
      <p:pic>
        <p:nvPicPr>
          <p:cNvPr id="277" name="Google Shape;277;p16" title="To Be.png"/>
          <p:cNvPicPr preferRelativeResize="0"/>
          <p:nvPr/>
        </p:nvPicPr>
        <p:blipFill rotWithShape="1">
          <a:blip r:embed="rId3">
            <a:alphaModFix/>
          </a:blip>
          <a:srcRect b="15218" l="0" r="0" t="0"/>
          <a:stretch/>
        </p:blipFill>
        <p:spPr>
          <a:xfrm>
            <a:off x="531775" y="1081700"/>
            <a:ext cx="7923651" cy="34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897328f41c_1_13"/>
          <p:cNvSpPr txBox="1"/>
          <p:nvPr>
            <p:ph type="title"/>
          </p:nvPr>
        </p:nvSpPr>
        <p:spPr>
          <a:xfrm>
            <a:off x="720000" y="130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Planificación- Cronograma de Hitos</a:t>
            </a:r>
            <a:endParaRPr/>
          </a:p>
        </p:txBody>
      </p:sp>
      <p:graphicFrame>
        <p:nvGraphicFramePr>
          <p:cNvPr id="283" name="Google Shape;283;g3897328f41c_1_13"/>
          <p:cNvGraphicFramePr/>
          <p:nvPr/>
        </p:nvGraphicFramePr>
        <p:xfrm>
          <a:off x="1404984" y="736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{A6EFE135-7CD8-4A24-852A-2724858447E8}</a:tableStyleId>
              </a:tblPr>
              <a:tblGrid>
                <a:gridCol w="2574750"/>
                <a:gridCol w="3446475"/>
              </a:tblGrid>
              <a:tr h="346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rgbClr val="000000"/>
                          </a:solidFill>
                        </a:rPr>
                        <a:t>Nombre Fase</a:t>
                      </a:r>
                      <a:endParaRPr b="1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rgbClr val="000000"/>
                          </a:solidFill>
                        </a:rPr>
                        <a:t>Fechas</a:t>
                      </a:r>
                      <a:endParaRPr b="1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4FC"/>
                    </a:solidFill>
                  </a:tcPr>
                </a:tc>
              </a:tr>
              <a:tr h="228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planificación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11/08/2025 - 18/08/2025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3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análisis y diseño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18/08/2025 - 21/08/2025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8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desarrollo web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22/08/2025 - 29/08/2025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17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módulo - Base de datos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25/08/2025 - 05/09/2025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75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módulo - Administración de usuarios (Etapa 1)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25/08/2025 - </a:t>
                      </a: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05/09/2025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6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Implementación módulos principales  (Etapa 2)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05/09/2022 - </a:t>
                      </a: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12/09/2025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8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Desarrollo App Móvil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15/09/2025 - 26/09/2025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6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Implementación módulo administrar -  APP Móvil (Etapa 3)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29/09/2025 - 10/10/2025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6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Implementación módulo de tareas/tasks -  APP Móvil (Etapa 4)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13/10/2025 - 24/10/2025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8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gestión de RRHH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20/10/2025 - 31/10/2025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8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Pruebas y QA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20/10/2025 - </a:t>
                      </a: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31/10/2025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6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Pruebas y  Control de calidad - APP Móvil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03/11/2025 -14/11/2025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8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implementación y cierre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10/11/2025 - 28/11/2025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>
            <p:ph type="title"/>
          </p:nvPr>
        </p:nvSpPr>
        <p:spPr>
          <a:xfrm>
            <a:off x="795500" y="322975"/>
            <a:ext cx="53877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Tecnologías de desarrollo:</a:t>
            </a:r>
            <a:endParaRPr/>
          </a:p>
        </p:txBody>
      </p:sp>
      <p:sp>
        <p:nvSpPr>
          <p:cNvPr id="289" name="Google Shape;289;p15"/>
          <p:cNvSpPr txBox="1"/>
          <p:nvPr>
            <p:ph idx="1" type="subTitle"/>
          </p:nvPr>
        </p:nvSpPr>
        <p:spPr>
          <a:xfrm>
            <a:off x="935500" y="1454475"/>
            <a:ext cx="6100200" cy="22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Lenguajes: Python 3.10 (back-end), JavaScript/TypeScript (móvil), HTML5/CSS3/JS (web).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Frameworks: Django 5.x, Django REST Framework, React Native con Expo.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Base de Datos: SQLite (desarrollo), PostgreSQL (producción).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Repositorios: GitHub/GitLab para control de versiones.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Reportes: Librerías ReportLab (PDF) y openpyxl (Excel).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897328f41c_0_95"/>
          <p:cNvSpPr txBox="1"/>
          <p:nvPr>
            <p:ph type="title"/>
          </p:nvPr>
        </p:nvSpPr>
        <p:spPr>
          <a:xfrm>
            <a:off x="839763" y="4573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Resumen de costos Estimado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/>
          </a:p>
        </p:txBody>
      </p:sp>
      <p:graphicFrame>
        <p:nvGraphicFramePr>
          <p:cNvPr id="295" name="Google Shape;295;g3897328f41c_0_95"/>
          <p:cNvGraphicFramePr/>
          <p:nvPr/>
        </p:nvGraphicFramePr>
        <p:xfrm>
          <a:off x="860250" y="147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{A6EFE135-7CD8-4A24-852A-2724858447E8}</a:tableStyleId>
              </a:tblPr>
              <a:tblGrid>
                <a:gridCol w="2165575"/>
                <a:gridCol w="1256700"/>
              </a:tblGrid>
              <a:tr h="34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Planificación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$ 290.426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Análisis y Diseño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$ 967.286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Desarrollo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$ 9.651.738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Pruebas y Control de calidad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$ 3.354.177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Implementación y Cierre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$ 3.292.715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HH FASES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$ 17.556.342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4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6" name="Google Shape;296;g3897328f41c_0_95"/>
          <p:cNvGraphicFramePr/>
          <p:nvPr/>
        </p:nvGraphicFramePr>
        <p:xfrm>
          <a:off x="4730625" y="147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{A6EFE135-7CD8-4A24-852A-2724858447E8}</a:tableStyleId>
              </a:tblPr>
              <a:tblGrid>
                <a:gridCol w="2472925"/>
                <a:gridCol w="1362075"/>
              </a:tblGrid>
              <a:tr h="3873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Costos de infraestructura tecnológica: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$ 515.530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9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Costos de herramientas y software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$ 700.000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9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Otros costos asociados: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$ 500.000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COSTOS DESARROLLO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$ 1.715.520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4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7" name="Google Shape;297;g3897328f41c_0_95"/>
          <p:cNvGraphicFramePr/>
          <p:nvPr/>
        </p:nvGraphicFramePr>
        <p:xfrm>
          <a:off x="4759463" y="337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{A6EFE135-7CD8-4A24-852A-2724858447E8}</a:tableStyleId>
              </a:tblPr>
              <a:tblGrid>
                <a:gridCol w="2468675"/>
                <a:gridCol w="1308625"/>
              </a:tblGrid>
              <a:tr h="380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COSTOS 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$ 19.271.862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4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17"/>
          <p:cNvGrpSpPr/>
          <p:nvPr/>
        </p:nvGrpSpPr>
        <p:grpSpPr>
          <a:xfrm flipH="1" rot="4659980">
            <a:off x="5142117" y="3057561"/>
            <a:ext cx="4573980" cy="3479278"/>
            <a:chOff x="1522650" y="1117750"/>
            <a:chExt cx="4574075" cy="3479350"/>
          </a:xfrm>
        </p:grpSpPr>
        <p:sp>
          <p:nvSpPr>
            <p:cNvPr id="303" name="Google Shape;303;p17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7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5" name="Google Shape;305;p17"/>
          <p:cNvSpPr txBox="1"/>
          <p:nvPr>
            <p:ph idx="1" type="subTitle"/>
          </p:nvPr>
        </p:nvSpPr>
        <p:spPr>
          <a:xfrm>
            <a:off x="328425" y="1352850"/>
            <a:ext cx="327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CL"/>
              <a:t>E</a:t>
            </a:r>
            <a:r>
              <a:rPr lang="es-CL"/>
              <a:t>mpresa mediana</a:t>
            </a:r>
            <a:endParaRPr/>
          </a:p>
        </p:txBody>
      </p:sp>
      <p:sp>
        <p:nvSpPr>
          <p:cNvPr id="306" name="Google Shape;306;p17"/>
          <p:cNvSpPr txBox="1"/>
          <p:nvPr>
            <p:ph idx="5" type="subTitle"/>
          </p:nvPr>
        </p:nvSpPr>
        <p:spPr>
          <a:xfrm>
            <a:off x="4626288" y="1352850"/>
            <a:ext cx="3746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CL"/>
              <a:t>Empresa grande</a:t>
            </a:r>
            <a:endParaRPr/>
          </a:p>
        </p:txBody>
      </p:sp>
      <p:sp>
        <p:nvSpPr>
          <p:cNvPr id="307" name="Google Shape;307;p17"/>
          <p:cNvSpPr txBox="1"/>
          <p:nvPr/>
        </p:nvSpPr>
        <p:spPr>
          <a:xfrm>
            <a:off x="3109341" y="525088"/>
            <a:ext cx="457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Flujo de caja</a:t>
            </a:r>
            <a:endParaRPr b="0" i="0" sz="30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308" name="Google Shape;3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1100" y="1769775"/>
            <a:ext cx="4145076" cy="109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425" y="1779925"/>
            <a:ext cx="4115250" cy="107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3850" y="3063525"/>
            <a:ext cx="1807150" cy="6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5625" y="3038475"/>
            <a:ext cx="1803449" cy="62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g389be79aae8_0_9"/>
          <p:cNvGrpSpPr/>
          <p:nvPr/>
        </p:nvGrpSpPr>
        <p:grpSpPr>
          <a:xfrm flipH="1" rot="4659980">
            <a:off x="5142117" y="3057561"/>
            <a:ext cx="4573980" cy="3479278"/>
            <a:chOff x="1522650" y="1117750"/>
            <a:chExt cx="4574075" cy="3479350"/>
          </a:xfrm>
        </p:grpSpPr>
        <p:sp>
          <p:nvSpPr>
            <p:cNvPr id="317" name="Google Shape;317;g389be79aae8_0_9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g389be79aae8_0_9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9" name="Google Shape;319;g389be79aae8_0_9"/>
          <p:cNvSpPr txBox="1"/>
          <p:nvPr/>
        </p:nvSpPr>
        <p:spPr>
          <a:xfrm>
            <a:off x="2016825" y="688826"/>
            <a:ext cx="5867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1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trackify</a:t>
            </a:r>
            <a:endParaRPr b="0" i="0" sz="41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320" name="Google Shape;320;g389be79aae8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7675" y="912450"/>
            <a:ext cx="3271625" cy="32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"/>
          <p:cNvSpPr txBox="1"/>
          <p:nvPr>
            <p:ph type="title"/>
          </p:nvPr>
        </p:nvSpPr>
        <p:spPr>
          <a:xfrm>
            <a:off x="2902885" y="591750"/>
            <a:ext cx="3338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Conclusión</a:t>
            </a:r>
            <a:endParaRPr/>
          </a:p>
        </p:txBody>
      </p:sp>
      <p:pic>
        <p:nvPicPr>
          <p:cNvPr id="326" name="Google Shape;3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4438" y="3575392"/>
            <a:ext cx="3480197" cy="1506258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9"/>
          <p:cNvSpPr txBox="1"/>
          <p:nvPr>
            <p:ph idx="1" type="subTitle"/>
          </p:nvPr>
        </p:nvSpPr>
        <p:spPr>
          <a:xfrm>
            <a:off x="769375" y="1460875"/>
            <a:ext cx="7421400" cy="1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/>
              <a:t>En conclusión, </a:t>
            </a:r>
            <a:r>
              <a:rPr lang="es-CL"/>
              <a:t>el proyecto Trackify representa el resultado de un proceso de diseño, desarrollo y </a:t>
            </a:r>
            <a:r>
              <a:rPr lang="es-CL"/>
              <a:t>documentación integral enfocado en ofrecer una solución tecnológica robusta.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/>
              <a:t>En esta fase, la documentación desarrollada evidencia una arquitectura sólida basada en el modelo 4+1, abordando las vistas de procesos, lógica, desarrollo, física y escenarios de calidad, lo que permitió establecer una base técnica clara y bien estructurada para la implementación del sistema, lo cual nos permite demostrar que el proyecto cuenta con una arquitectura modular, segura y escalable, con componentes reutilizables que facilitan su mantenimiento y evolución.</a:t>
            </a:r>
            <a:r>
              <a:rPr lang="es-C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8"/>
          <p:cNvSpPr txBox="1"/>
          <p:nvPr/>
        </p:nvSpPr>
        <p:spPr>
          <a:xfrm>
            <a:off x="2642881" y="1854913"/>
            <a:ext cx="3990211" cy="95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</a:pPr>
            <a:r>
              <a:rPr b="0" i="0" lang="es-CL" sz="72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Gracias</a:t>
            </a:r>
            <a:endParaRPr b="0" i="0" sz="30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Migration Project Proposal by Slidesgo">
  <a:themeElements>
    <a:clrScheme name="Simple Light">
      <a:dk1>
        <a:srgbClr val="241160"/>
      </a:dk1>
      <a:lt1>
        <a:srgbClr val="FFFFFF"/>
      </a:lt1>
      <a:dk2>
        <a:srgbClr val="E2E4FC"/>
      </a:dk2>
      <a:lt2>
        <a:srgbClr val="8861F1"/>
      </a:lt2>
      <a:accent1>
        <a:srgbClr val="545EEA"/>
      </a:accent1>
      <a:accent2>
        <a:srgbClr val="0B9CDC"/>
      </a:accent2>
      <a:accent3>
        <a:srgbClr val="01CFE6"/>
      </a:accent3>
      <a:accent4>
        <a:srgbClr val="FFFFFF"/>
      </a:accent4>
      <a:accent5>
        <a:srgbClr val="FFFFFF"/>
      </a:accent5>
      <a:accent6>
        <a:srgbClr val="FFFFFF"/>
      </a:accent6>
      <a:hlink>
        <a:srgbClr val="24116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Fernanda</dc:creator>
</cp:coreProperties>
</file>