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Raleway"/>
      <p:regular r:id="rId33"/>
      <p:bold r:id="rId34"/>
      <p:italic r:id="rId35"/>
      <p:boldItalic r:id="rId36"/>
    </p:embeddedFont>
    <p:embeddedFont>
      <p:font typeface="Anaheim"/>
      <p:regular r:id="rId37"/>
      <p:bold r:id="rId38"/>
    </p:embeddedFont>
    <p:embeddedFont>
      <p:font typeface="Cairo"/>
      <p:regular r:id="rId39"/>
      <p:bold r:id="rId40"/>
    </p:embeddedFont>
    <p:embeddedFont>
      <p:font typeface="Space Grotesk Medium"/>
      <p:regular r:id="rId41"/>
      <p:bold r:id="rId42"/>
    </p:embeddedFont>
    <p:embeddedFont>
      <p:font typeface="PT Sans"/>
      <p:regular r:id="rId43"/>
      <p:bold r:id="rId44"/>
      <p:italic r:id="rId45"/>
      <p:boldItalic r:id="rId46"/>
    </p:embeddedFont>
    <p:embeddedFont>
      <p:font typeface="Space Grotesk"/>
      <p:regular r:id="rId47"/>
      <p:bold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9" roundtripDataSignature="AMtx7mjraHLKbbr33wyc8gbrG0C0QwLg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1EC4E29-5E36-4605-A73E-0D4984997889}">
  <a:tblStyle styleId="{51EC4E29-5E36-4605-A73E-0D498499788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BE414B90-7BC1-452E-AA19-E73AA1BA2755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airo-bold.fntdata"/><Relationship Id="rId42" Type="http://schemas.openxmlformats.org/officeDocument/2006/relationships/font" Target="fonts/SpaceGroteskMedium-bold.fntdata"/><Relationship Id="rId41" Type="http://schemas.openxmlformats.org/officeDocument/2006/relationships/font" Target="fonts/SpaceGroteskMedium-regular.fntdata"/><Relationship Id="rId44" Type="http://schemas.openxmlformats.org/officeDocument/2006/relationships/font" Target="fonts/PTSans-bold.fntdata"/><Relationship Id="rId43" Type="http://schemas.openxmlformats.org/officeDocument/2006/relationships/font" Target="fonts/PTSans-regular.fntdata"/><Relationship Id="rId46" Type="http://schemas.openxmlformats.org/officeDocument/2006/relationships/font" Target="fonts/PTSans-boldItalic.fntdata"/><Relationship Id="rId45" Type="http://schemas.openxmlformats.org/officeDocument/2006/relationships/font" Target="fonts/PTSa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SpaceGrotesk-bold.fntdata"/><Relationship Id="rId47" Type="http://schemas.openxmlformats.org/officeDocument/2006/relationships/font" Target="fonts/SpaceGrotesk-regular.fntdata"/><Relationship Id="rId4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font" Target="fonts/Raleway-regular.fntdata"/><Relationship Id="rId32" Type="http://schemas.openxmlformats.org/officeDocument/2006/relationships/slide" Target="slides/slide27.xml"/><Relationship Id="rId35" Type="http://schemas.openxmlformats.org/officeDocument/2006/relationships/font" Target="fonts/Raleway-italic.fntdata"/><Relationship Id="rId34" Type="http://schemas.openxmlformats.org/officeDocument/2006/relationships/font" Target="fonts/Raleway-bold.fntdata"/><Relationship Id="rId37" Type="http://schemas.openxmlformats.org/officeDocument/2006/relationships/font" Target="fonts/Anaheim-regular.fntdata"/><Relationship Id="rId36" Type="http://schemas.openxmlformats.org/officeDocument/2006/relationships/font" Target="fonts/Raleway-boldItalic.fntdata"/><Relationship Id="rId39" Type="http://schemas.openxmlformats.org/officeDocument/2006/relationships/font" Target="fonts/Cairo-regular.fntdata"/><Relationship Id="rId38" Type="http://schemas.openxmlformats.org/officeDocument/2006/relationships/font" Target="fonts/Anaheim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97328f41c_0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897328f41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471cab302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a471cab30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97328f41c_4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897328f41c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9e736804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g399e7368040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897328f41c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897328f41c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953b23e6e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953b23e6e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99eef8c87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99eef8c87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9838161a31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9838161a3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897328f41c_0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897328f41c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4059af294_0_3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3a4059af294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a67251785f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3a6725178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a67251785f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3a67251785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89be79aae8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389be79aae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a4ab34013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g3a4ab3401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9150cda4d0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39150cda4d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a6bcfde61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3a6bcfde6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9" name="Google Shape;369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a6bcfde61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g3a6bcfde61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1"/>
          <p:cNvSpPr txBox="1"/>
          <p:nvPr>
            <p:ph type="ctrTitle"/>
          </p:nvPr>
        </p:nvSpPr>
        <p:spPr>
          <a:xfrm>
            <a:off x="713225" y="2205375"/>
            <a:ext cx="5257800" cy="16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solidFill>
                  <a:srgbClr val="24116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" type="subTitle"/>
          </p:nvPr>
        </p:nvSpPr>
        <p:spPr>
          <a:xfrm>
            <a:off x="713225" y="3885650"/>
            <a:ext cx="3690600" cy="46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" name="Google Shape;1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2" type="title"/>
          </p:nvPr>
        </p:nvSpPr>
        <p:spPr>
          <a:xfrm>
            <a:off x="720000" y="1480883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5" name="Google Shape;15;p22"/>
          <p:cNvSpPr txBox="1"/>
          <p:nvPr>
            <p:ph idx="3" type="title"/>
          </p:nvPr>
        </p:nvSpPr>
        <p:spPr>
          <a:xfrm>
            <a:off x="720000" y="2990491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6" name="Google Shape;16;p22"/>
          <p:cNvSpPr txBox="1"/>
          <p:nvPr>
            <p:ph idx="4" type="title"/>
          </p:nvPr>
        </p:nvSpPr>
        <p:spPr>
          <a:xfrm>
            <a:off x="3306000" y="1480883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" name="Google Shape;17;p22"/>
          <p:cNvSpPr txBox="1"/>
          <p:nvPr>
            <p:ph idx="5" type="title"/>
          </p:nvPr>
        </p:nvSpPr>
        <p:spPr>
          <a:xfrm>
            <a:off x="3306000" y="2990491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8" name="Google Shape;18;p22"/>
          <p:cNvSpPr txBox="1"/>
          <p:nvPr>
            <p:ph idx="6" type="title"/>
          </p:nvPr>
        </p:nvSpPr>
        <p:spPr>
          <a:xfrm>
            <a:off x="5892000" y="1480883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9" name="Google Shape;19;p22"/>
          <p:cNvSpPr txBox="1"/>
          <p:nvPr>
            <p:ph idx="7" type="title"/>
          </p:nvPr>
        </p:nvSpPr>
        <p:spPr>
          <a:xfrm>
            <a:off x="5892000" y="2990491"/>
            <a:ext cx="734700" cy="44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" name="Google Shape;20;p22"/>
          <p:cNvSpPr txBox="1"/>
          <p:nvPr>
            <p:ph idx="1" type="subTitle"/>
          </p:nvPr>
        </p:nvSpPr>
        <p:spPr>
          <a:xfrm>
            <a:off x="720000" y="2026450"/>
            <a:ext cx="253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1" name="Google Shape;21;p22"/>
          <p:cNvSpPr txBox="1"/>
          <p:nvPr>
            <p:ph idx="8" type="subTitle"/>
          </p:nvPr>
        </p:nvSpPr>
        <p:spPr>
          <a:xfrm>
            <a:off x="3306000" y="2026450"/>
            <a:ext cx="253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" name="Google Shape;22;p22"/>
          <p:cNvSpPr txBox="1"/>
          <p:nvPr>
            <p:ph idx="9" type="subTitle"/>
          </p:nvPr>
        </p:nvSpPr>
        <p:spPr>
          <a:xfrm>
            <a:off x="5892000" y="2026450"/>
            <a:ext cx="253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" name="Google Shape;23;p22"/>
          <p:cNvSpPr txBox="1"/>
          <p:nvPr>
            <p:ph idx="13" type="subTitle"/>
          </p:nvPr>
        </p:nvSpPr>
        <p:spPr>
          <a:xfrm>
            <a:off x="720000" y="3544900"/>
            <a:ext cx="25320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" name="Google Shape;24;p22"/>
          <p:cNvSpPr txBox="1"/>
          <p:nvPr>
            <p:ph idx="14" type="subTitle"/>
          </p:nvPr>
        </p:nvSpPr>
        <p:spPr>
          <a:xfrm>
            <a:off x="3306000" y="3544900"/>
            <a:ext cx="25320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" name="Google Shape;25;p22"/>
          <p:cNvSpPr txBox="1"/>
          <p:nvPr>
            <p:ph idx="15" type="subTitle"/>
          </p:nvPr>
        </p:nvSpPr>
        <p:spPr>
          <a:xfrm>
            <a:off x="5892000" y="3544900"/>
            <a:ext cx="25320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26" name="Google Shape;26;p22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27" name="Google Shape;27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8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" name="Google Shape;29;p22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30" name="Google Shape;30;p22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2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1" type="subTitle"/>
          </p:nvPr>
        </p:nvSpPr>
        <p:spPr>
          <a:xfrm>
            <a:off x="4911639" y="2679824"/>
            <a:ext cx="2424300" cy="15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2" type="subTitle"/>
          </p:nvPr>
        </p:nvSpPr>
        <p:spPr>
          <a:xfrm>
            <a:off x="1808050" y="2679824"/>
            <a:ext cx="2424300" cy="15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3" type="subTitle"/>
          </p:nvPr>
        </p:nvSpPr>
        <p:spPr>
          <a:xfrm>
            <a:off x="1808050" y="2244217"/>
            <a:ext cx="2424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7" name="Google Shape;37;p26"/>
          <p:cNvSpPr txBox="1"/>
          <p:nvPr>
            <p:ph idx="4" type="subTitle"/>
          </p:nvPr>
        </p:nvSpPr>
        <p:spPr>
          <a:xfrm>
            <a:off x="4911639" y="2244217"/>
            <a:ext cx="2424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38" name="Google Shape;38;p26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39" name="Google Shape;39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40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" name="Google Shape;41;p26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42" name="Google Shape;42;p26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6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type="title"/>
          </p:nvPr>
        </p:nvSpPr>
        <p:spPr>
          <a:xfrm>
            <a:off x="811975" y="829350"/>
            <a:ext cx="39933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" type="subTitle"/>
          </p:nvPr>
        </p:nvSpPr>
        <p:spPr>
          <a:xfrm>
            <a:off x="811975" y="1878550"/>
            <a:ext cx="3993300" cy="22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47" name="Google Shape;47;p25"/>
          <p:cNvSpPr/>
          <p:nvPr>
            <p:ph idx="2" type="pic"/>
          </p:nvPr>
        </p:nvSpPr>
        <p:spPr>
          <a:xfrm>
            <a:off x="5088475" y="770400"/>
            <a:ext cx="3081600" cy="3602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48" name="Google Shape;48;p25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49" name="Google Shape;49;p2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" name="Google Shape;51;p25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52" name="Google Shape;52;p25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5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3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56" name="Google Shape;56;p2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8" name="Google Shape;58;p23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59" name="Google Shape;59;p23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3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" name="Google Shape;61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7"/>
          <p:cNvSpPr txBox="1"/>
          <p:nvPr>
            <p:ph type="title"/>
          </p:nvPr>
        </p:nvSpPr>
        <p:spPr>
          <a:xfrm>
            <a:off x="1200575" y="2266166"/>
            <a:ext cx="2739300" cy="667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27"/>
          <p:cNvSpPr txBox="1"/>
          <p:nvPr>
            <p:ph idx="1" type="subTitle"/>
          </p:nvPr>
        </p:nvSpPr>
        <p:spPr>
          <a:xfrm>
            <a:off x="1200575" y="2948884"/>
            <a:ext cx="273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65" name="Google Shape;65;p27"/>
          <p:cNvSpPr txBox="1"/>
          <p:nvPr>
            <p:ph idx="2" type="title"/>
          </p:nvPr>
        </p:nvSpPr>
        <p:spPr>
          <a:xfrm>
            <a:off x="1200575" y="977950"/>
            <a:ext cx="2739300" cy="666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p27"/>
          <p:cNvSpPr txBox="1"/>
          <p:nvPr>
            <p:ph idx="3" type="subTitle"/>
          </p:nvPr>
        </p:nvSpPr>
        <p:spPr>
          <a:xfrm>
            <a:off x="1200575" y="1669422"/>
            <a:ext cx="27393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67" name="Google Shape;67;p27"/>
          <p:cNvSpPr txBox="1"/>
          <p:nvPr>
            <p:ph idx="4" type="title"/>
          </p:nvPr>
        </p:nvSpPr>
        <p:spPr>
          <a:xfrm>
            <a:off x="1200575" y="3555582"/>
            <a:ext cx="2739300" cy="667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" name="Google Shape;68;p27"/>
          <p:cNvSpPr txBox="1"/>
          <p:nvPr>
            <p:ph idx="5" type="subTitle"/>
          </p:nvPr>
        </p:nvSpPr>
        <p:spPr>
          <a:xfrm>
            <a:off x="1200575" y="4238300"/>
            <a:ext cx="273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pic>
        <p:nvPicPr>
          <p:cNvPr id="69" name="Google Shape;69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29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72" name="Google Shape;72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" name="Google Shape;74;p29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75" name="Google Shape;75;p29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9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" type="subTitle"/>
          </p:nvPr>
        </p:nvSpPr>
        <p:spPr>
          <a:xfrm>
            <a:off x="719975" y="1164450"/>
            <a:ext cx="3748800" cy="11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28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81" name="Google Shape;81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3" name="Google Shape;83;p28"/>
          <p:cNvGrpSpPr/>
          <p:nvPr/>
        </p:nvGrpSpPr>
        <p:grpSpPr>
          <a:xfrm flipH="1" rot="-10539848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84" name="Google Shape;84;p28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8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p28"/>
          <p:cNvSpPr txBox="1"/>
          <p:nvPr>
            <p:ph type="title"/>
          </p:nvPr>
        </p:nvSpPr>
        <p:spPr>
          <a:xfrm>
            <a:off x="3889175" y="1000050"/>
            <a:ext cx="3205500" cy="10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" name="Google Shape;87;p28"/>
          <p:cNvSpPr txBox="1"/>
          <p:nvPr>
            <p:ph idx="1" type="subTitle"/>
          </p:nvPr>
        </p:nvSpPr>
        <p:spPr>
          <a:xfrm>
            <a:off x="3889175" y="2131950"/>
            <a:ext cx="4185300" cy="20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2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90" name="Google Shape;90;p2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2" name="Google Shape;92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1" type="body"/>
          </p:nvPr>
        </p:nvSpPr>
        <p:spPr>
          <a:xfrm>
            <a:off x="720000" y="1090229"/>
            <a:ext cx="77040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94" name="Google Shape;94;p24"/>
          <p:cNvGrpSpPr/>
          <p:nvPr/>
        </p:nvGrpSpPr>
        <p:grpSpPr>
          <a:xfrm rot="10800000">
            <a:off x="6704226" y="3811697"/>
            <a:ext cx="4574075" cy="3479350"/>
            <a:chOff x="1522650" y="1117750"/>
            <a:chExt cx="4574075" cy="3479350"/>
          </a:xfrm>
        </p:grpSpPr>
        <p:sp>
          <p:nvSpPr>
            <p:cNvPr id="95" name="Google Shape;95;p24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4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30"/>
          <p:cNvGrpSpPr/>
          <p:nvPr/>
        </p:nvGrpSpPr>
        <p:grpSpPr>
          <a:xfrm>
            <a:off x="10" y="0"/>
            <a:ext cx="9143991" cy="5143500"/>
            <a:chOff x="10" y="0"/>
            <a:chExt cx="9143991" cy="5143500"/>
          </a:xfrm>
        </p:grpSpPr>
        <p:pic>
          <p:nvPicPr>
            <p:cNvPr id="99" name="Google Shape;99;p3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4416200" y="2886625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1" name="Google Shape;101;p30"/>
          <p:cNvGrpSpPr/>
          <p:nvPr/>
        </p:nvGrpSpPr>
        <p:grpSpPr>
          <a:xfrm rot="756538">
            <a:off x="5159567" y="-1927047"/>
            <a:ext cx="4574157" cy="3479412"/>
            <a:chOff x="1522650" y="1117750"/>
            <a:chExt cx="4574075" cy="3479350"/>
          </a:xfrm>
        </p:grpSpPr>
        <p:sp>
          <p:nvSpPr>
            <p:cNvPr id="102" name="Google Shape;102;p30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30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" name="Google Shape;104;p30"/>
          <p:cNvSpPr txBox="1"/>
          <p:nvPr>
            <p:ph type="title"/>
          </p:nvPr>
        </p:nvSpPr>
        <p:spPr>
          <a:xfrm>
            <a:off x="3830000" y="1716400"/>
            <a:ext cx="45081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31"/>
          <p:cNvGrpSpPr/>
          <p:nvPr/>
        </p:nvGrpSpPr>
        <p:grpSpPr>
          <a:xfrm rot="756538">
            <a:off x="-714808" y="-2409347"/>
            <a:ext cx="4574157" cy="3479412"/>
            <a:chOff x="1522650" y="1117750"/>
            <a:chExt cx="4574075" cy="3479350"/>
          </a:xfrm>
        </p:grpSpPr>
        <p:sp>
          <p:nvSpPr>
            <p:cNvPr id="107" name="Google Shape;107;p31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1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" name="Google Shape;109;p31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10" name="Google Shape;110;p3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" name="Google Shape;112;p31"/>
          <p:cNvSpPr txBox="1"/>
          <p:nvPr>
            <p:ph type="title"/>
          </p:nvPr>
        </p:nvSpPr>
        <p:spPr>
          <a:xfrm>
            <a:off x="713225" y="1528900"/>
            <a:ext cx="4872900" cy="196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3" name="Google Shape;113;p31"/>
          <p:cNvSpPr txBox="1"/>
          <p:nvPr>
            <p:ph idx="1" type="subTitle"/>
          </p:nvPr>
        </p:nvSpPr>
        <p:spPr>
          <a:xfrm>
            <a:off x="713225" y="3640050"/>
            <a:ext cx="48729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32"/>
          <p:cNvSpPr txBox="1"/>
          <p:nvPr>
            <p:ph type="title"/>
          </p:nvPr>
        </p:nvSpPr>
        <p:spPr>
          <a:xfrm>
            <a:off x="720000" y="4014450"/>
            <a:ext cx="5713200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17" name="Google Shape;117;p32"/>
          <p:cNvGrpSpPr/>
          <p:nvPr/>
        </p:nvGrpSpPr>
        <p:grpSpPr>
          <a:xfrm>
            <a:off x="0" y="4"/>
            <a:ext cx="9144005" cy="5143497"/>
            <a:chOff x="0" y="4"/>
            <a:chExt cx="9144005" cy="5143497"/>
          </a:xfrm>
        </p:grpSpPr>
        <p:pic>
          <p:nvPicPr>
            <p:cNvPr id="118" name="Google Shape;118;p3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0" name="Google Shape;120;p32"/>
          <p:cNvGrpSpPr/>
          <p:nvPr/>
        </p:nvGrpSpPr>
        <p:grpSpPr>
          <a:xfrm>
            <a:off x="-896231" y="-2525369"/>
            <a:ext cx="11703669" cy="10221582"/>
            <a:chOff x="-896231" y="-2525369"/>
            <a:chExt cx="11703669" cy="10221582"/>
          </a:xfrm>
        </p:grpSpPr>
        <p:grpSp>
          <p:nvGrpSpPr>
            <p:cNvPr id="121" name="Google Shape;121;p32"/>
            <p:cNvGrpSpPr/>
            <p:nvPr/>
          </p:nvGrpSpPr>
          <p:grpSpPr>
            <a:xfrm flipH="1" rot="-10539848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122" name="Google Shape;122;p32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32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4" name="Google Shape;124;p32"/>
            <p:cNvGrpSpPr/>
            <p:nvPr/>
          </p:nvGrpSpPr>
          <p:grpSpPr>
            <a:xfrm>
              <a:off x="-896231" y="-2525369"/>
              <a:ext cx="4573618" cy="3479002"/>
              <a:chOff x="1522650" y="1117750"/>
              <a:chExt cx="4574075" cy="3479350"/>
            </a:xfrm>
          </p:grpSpPr>
          <p:sp>
            <p:nvSpPr>
              <p:cNvPr id="125" name="Google Shape;125;p32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32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3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30" name="Google Shape;130;p3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" name="Google Shape;131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2" name="Google Shape;132;p34"/>
          <p:cNvGrpSpPr/>
          <p:nvPr/>
        </p:nvGrpSpPr>
        <p:grpSpPr>
          <a:xfrm rot="756538">
            <a:off x="-1069833" y="-1842572"/>
            <a:ext cx="4574157" cy="3479412"/>
            <a:chOff x="1522650" y="1117750"/>
            <a:chExt cx="4574075" cy="3479350"/>
          </a:xfrm>
        </p:grpSpPr>
        <p:sp>
          <p:nvSpPr>
            <p:cNvPr id="133" name="Google Shape;133;p34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34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35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137" name="Google Shape;137;p3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9" name="Google Shape;139;p35"/>
          <p:cNvGrpSpPr/>
          <p:nvPr/>
        </p:nvGrpSpPr>
        <p:grpSpPr>
          <a:xfrm>
            <a:off x="-1845124" y="-2180828"/>
            <a:ext cx="12652562" cy="9877041"/>
            <a:chOff x="-1845124" y="-2180828"/>
            <a:chExt cx="12652562" cy="9877041"/>
          </a:xfrm>
        </p:grpSpPr>
        <p:grpSp>
          <p:nvGrpSpPr>
            <p:cNvPr id="140" name="Google Shape;140;p35"/>
            <p:cNvGrpSpPr/>
            <p:nvPr/>
          </p:nvGrpSpPr>
          <p:grpSpPr>
            <a:xfrm>
              <a:off x="-1845124" y="-2180828"/>
              <a:ext cx="4574075" cy="3479350"/>
              <a:chOff x="1522650" y="1117750"/>
              <a:chExt cx="4574075" cy="3479350"/>
            </a:xfrm>
          </p:grpSpPr>
          <p:sp>
            <p:nvSpPr>
              <p:cNvPr id="141" name="Google Shape;141;p3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3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3" name="Google Shape;143;p35"/>
            <p:cNvGrpSpPr/>
            <p:nvPr/>
          </p:nvGrpSpPr>
          <p:grpSpPr>
            <a:xfrm flipH="1" rot="-10539848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144" name="Google Shape;144;p3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rect b="b" l="l" r="r" t="t"/>
                <a:pathLst>
                  <a:path extrusionOk="0" h="128684" w="151633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3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rect b="b" l="l" r="r" t="t"/>
                <a:pathLst>
                  <a:path extrusionOk="0" h="42334" w="96695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0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b="0" i="0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20.png"/><Relationship Id="rId13" Type="http://schemas.openxmlformats.org/officeDocument/2006/relationships/image" Target="../media/image43.png"/><Relationship Id="rId12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Relationship Id="rId9" Type="http://schemas.openxmlformats.org/officeDocument/2006/relationships/image" Target="../media/image26.png"/><Relationship Id="rId15" Type="http://schemas.openxmlformats.org/officeDocument/2006/relationships/image" Target="../media/image49.png"/><Relationship Id="rId14" Type="http://schemas.openxmlformats.org/officeDocument/2006/relationships/image" Target="../media/image27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23.png"/><Relationship Id="rId8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Relationship Id="rId4" Type="http://schemas.openxmlformats.org/officeDocument/2006/relationships/image" Target="../media/image3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5.png"/><Relationship Id="rId4" Type="http://schemas.openxmlformats.org/officeDocument/2006/relationships/image" Target="../media/image4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Relationship Id="rId4" Type="http://schemas.openxmlformats.org/officeDocument/2006/relationships/hyperlink" Target="http://drive.google.com/file/d/1DnVu4nF8BTpUhl3pizcdllX-bngRf80-/view" TargetMode="External"/><Relationship Id="rId5" Type="http://schemas.openxmlformats.org/officeDocument/2006/relationships/image" Target="../media/image37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hyperlink" Target="http://drive.google.com/file/d/1vj4ZhrSFlztuIxnvChjxfh2JeXXFrgvm/view" TargetMode="External"/><Relationship Id="rId5" Type="http://schemas.openxmlformats.org/officeDocument/2006/relationships/image" Target="../media/image47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drive.google.com/drive/folders/1ygaszwhZpw9TzJKc7NdRk2EuN9Skl4PK?usp=sharing" TargetMode="External"/><Relationship Id="rId4" Type="http://schemas.openxmlformats.org/officeDocument/2006/relationships/hyperlink" Target="https://drive.google.com/file/d/1AxCnBq9xO9-UMV_LD0lYaKasehV5c9Rq/view?usp=sharing" TargetMode="External"/><Relationship Id="rId9" Type="http://schemas.openxmlformats.org/officeDocument/2006/relationships/image" Target="../media/image42.png"/><Relationship Id="rId5" Type="http://schemas.openxmlformats.org/officeDocument/2006/relationships/hyperlink" Target="https://drive.google.com/drive/folders/10IysYQ9NouS0tEq_M9O6bFuWeJb5hhmW?usp=sharing" TargetMode="External"/><Relationship Id="rId6" Type="http://schemas.openxmlformats.org/officeDocument/2006/relationships/hyperlink" Target="https://docs.google.com/spreadsheets/d/1wzmKl2J8yAUyXQB9osbw5UEGDnN2cj3e/edit?usp=sharing&amp;ouid=117312232679367400153&amp;rtpof=true&amp;sd=true" TargetMode="External"/><Relationship Id="rId7" Type="http://schemas.openxmlformats.org/officeDocument/2006/relationships/hyperlink" Target="https://drive.google.com/file/d/1AxCnBq9xO9-UMV_LD0lYaKasehV5c9Rq/view?usp=sharing" TargetMode="External"/><Relationship Id="rId8" Type="http://schemas.openxmlformats.org/officeDocument/2006/relationships/hyperlink" Target="https://drive.google.com/file/d/1T16T9dJcS-j91jK3oi1SqFOf_rzRbGpi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1"/>
          <p:cNvGrpSpPr/>
          <p:nvPr/>
        </p:nvGrpSpPr>
        <p:grpSpPr>
          <a:xfrm rot="756538">
            <a:off x="-943409" y="-1494947"/>
            <a:ext cx="4574157" cy="3479412"/>
            <a:chOff x="1522650" y="1117750"/>
            <a:chExt cx="4574075" cy="3479350"/>
          </a:xfrm>
        </p:grpSpPr>
        <p:sp>
          <p:nvSpPr>
            <p:cNvPr id="151" name="Google Shape;151;p1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3" name="Google Shape;15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57388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"/>
          <p:cNvSpPr txBox="1"/>
          <p:nvPr>
            <p:ph type="ctrTitle"/>
          </p:nvPr>
        </p:nvSpPr>
        <p:spPr>
          <a:xfrm>
            <a:off x="633301" y="1083225"/>
            <a:ext cx="7056000" cy="1614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CL" sz="4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Presentación capstone </a:t>
            </a:r>
            <a:r>
              <a:rPr lang="es-CL" sz="4700">
                <a:latin typeface="Arial"/>
                <a:ea typeface="Arial"/>
                <a:cs typeface="Arial"/>
                <a:sym typeface="Arial"/>
              </a:rPr>
              <a:t>“Trackify”</a:t>
            </a:r>
            <a:endParaRPr sz="4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"/>
          <p:cNvSpPr txBox="1"/>
          <p:nvPr>
            <p:ph idx="1" type="subTitle"/>
          </p:nvPr>
        </p:nvSpPr>
        <p:spPr>
          <a:xfrm>
            <a:off x="3061775" y="2789975"/>
            <a:ext cx="1919100" cy="23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CL" sz="1200"/>
              <a:t>     Ingeniería informática</a:t>
            </a:r>
            <a:endParaRPr sz="1200"/>
          </a:p>
        </p:txBody>
      </p:sp>
      <p:sp>
        <p:nvSpPr>
          <p:cNvPr id="156" name="Google Shape;156;p1"/>
          <p:cNvSpPr txBox="1"/>
          <p:nvPr/>
        </p:nvSpPr>
        <p:spPr>
          <a:xfrm>
            <a:off x="2469125" y="3190250"/>
            <a:ext cx="3104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Escuela de Informática y Telecomunicaciones</a:t>
            </a:r>
            <a:endParaRPr b="0" i="0" sz="12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Sede Puente Alto</a:t>
            </a:r>
            <a:endParaRPr b="0" i="0" sz="12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2025</a:t>
            </a:r>
            <a:endParaRPr b="0" i="0" sz="12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57" name="Google Shape;157;p1"/>
          <p:cNvSpPr txBox="1"/>
          <p:nvPr/>
        </p:nvSpPr>
        <p:spPr>
          <a:xfrm>
            <a:off x="3179975" y="4052100"/>
            <a:ext cx="1682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CL" sz="10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Docente: Juan Pablo Ramos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97328f41c_0_36"/>
          <p:cNvSpPr txBox="1"/>
          <p:nvPr>
            <p:ph type="title"/>
          </p:nvPr>
        </p:nvSpPr>
        <p:spPr>
          <a:xfrm>
            <a:off x="720000" y="4082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/>
              <a:t>Integrantes del proyecto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/>
          </a:p>
        </p:txBody>
      </p:sp>
      <p:sp>
        <p:nvSpPr>
          <p:cNvPr id="163" name="Google Shape;163;g3897328f41c_0_36"/>
          <p:cNvSpPr txBox="1"/>
          <p:nvPr/>
        </p:nvSpPr>
        <p:spPr>
          <a:xfrm>
            <a:off x="748225" y="1859544"/>
            <a:ext cx="71238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Analista programador                                 Jefa de proyecto                                               Analista QA</a:t>
            </a:r>
            <a:endParaRPr b="0" i="0" sz="12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8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897328f41c_0_36"/>
          <p:cNvSpPr txBox="1"/>
          <p:nvPr>
            <p:ph idx="1" type="subTitle"/>
          </p:nvPr>
        </p:nvSpPr>
        <p:spPr>
          <a:xfrm>
            <a:off x="1337799" y="1753717"/>
            <a:ext cx="1376100" cy="23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-CL" sz="1200">
                <a:latin typeface="Cairo"/>
                <a:ea typeface="Cairo"/>
                <a:cs typeface="Cairo"/>
                <a:sym typeface="Cairo"/>
              </a:rPr>
              <a:t>Felipe Carrera</a:t>
            </a:r>
            <a:endParaRPr b="1" sz="1200"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</p:txBody>
      </p:sp>
      <p:sp>
        <p:nvSpPr>
          <p:cNvPr id="165" name="Google Shape;165;g3897328f41c_0_36"/>
          <p:cNvSpPr txBox="1"/>
          <p:nvPr>
            <p:ph idx="1" type="subTitle"/>
          </p:nvPr>
        </p:nvSpPr>
        <p:spPr>
          <a:xfrm>
            <a:off x="3708640" y="1753717"/>
            <a:ext cx="1376100" cy="23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s-CL" sz="1200">
                <a:latin typeface="Cairo"/>
                <a:ea typeface="Cairo"/>
                <a:cs typeface="Cairo"/>
                <a:sym typeface="Cairo"/>
              </a:rPr>
              <a:t>Fernanda Donoso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s-CL" sz="1200">
                <a:latin typeface="Cairo"/>
                <a:ea typeface="Cairo"/>
                <a:cs typeface="Cairo"/>
                <a:sym typeface="Cairo"/>
              </a:rPr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1200"/>
          </a:p>
        </p:txBody>
      </p:sp>
      <p:sp>
        <p:nvSpPr>
          <p:cNvPr id="166" name="Google Shape;166;g3897328f41c_0_36"/>
          <p:cNvSpPr txBox="1"/>
          <p:nvPr>
            <p:ph idx="1" type="subTitle"/>
          </p:nvPr>
        </p:nvSpPr>
        <p:spPr>
          <a:xfrm>
            <a:off x="6230312" y="1753717"/>
            <a:ext cx="1376100" cy="23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s-CL" sz="1200">
                <a:latin typeface="Cairo"/>
                <a:ea typeface="Cairo"/>
                <a:cs typeface="Cairo"/>
                <a:sym typeface="Cairo"/>
              </a:rPr>
              <a:t>Duan Guzmán</a:t>
            </a:r>
            <a:endParaRPr b="1" sz="1200"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CL" sz="1200"/>
              <a:t> </a:t>
            </a:r>
            <a:endParaRPr sz="1200"/>
          </a:p>
        </p:txBody>
      </p:sp>
      <p:pic>
        <p:nvPicPr>
          <p:cNvPr id="167" name="Google Shape;167;g3897328f41c_0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824" y="2422276"/>
            <a:ext cx="986262" cy="986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897328f41c_0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5904" y="2422276"/>
            <a:ext cx="986262" cy="986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897328f41c_0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2109" y="2357860"/>
            <a:ext cx="986262" cy="986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897328f41c_0_36"/>
          <p:cNvPicPr preferRelativeResize="0"/>
          <p:nvPr/>
        </p:nvPicPr>
        <p:blipFill rotWithShape="1">
          <a:blip r:embed="rId4">
            <a:alphaModFix/>
          </a:blip>
          <a:srcRect b="32453" l="32115" r="30644" t="28744"/>
          <a:stretch/>
        </p:blipFill>
        <p:spPr>
          <a:xfrm>
            <a:off x="5927680" y="453200"/>
            <a:ext cx="729270" cy="7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/>
          <p:nvPr>
            <p:ph type="title"/>
          </p:nvPr>
        </p:nvSpPr>
        <p:spPr>
          <a:xfrm>
            <a:off x="548125" y="6332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/>
              <a:t>Contexto</a:t>
            </a:r>
            <a:endParaRPr b="1"/>
          </a:p>
        </p:txBody>
      </p:sp>
      <p:sp>
        <p:nvSpPr>
          <p:cNvPr id="176" name="Google Shape;176;p2"/>
          <p:cNvSpPr txBox="1"/>
          <p:nvPr>
            <p:ph idx="1" type="subTitle"/>
          </p:nvPr>
        </p:nvSpPr>
        <p:spPr>
          <a:xfrm>
            <a:off x="713600" y="1535925"/>
            <a:ext cx="4433400" cy="26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Muchas empresas, especialmente en el </a:t>
            </a:r>
            <a:r>
              <a:rPr b="1" lang="es-CL" sz="1200">
                <a:latin typeface="Cairo"/>
                <a:ea typeface="Cairo"/>
                <a:cs typeface="Cairo"/>
                <a:sym typeface="Cairo"/>
              </a:rPr>
              <a:t>sector hotelero</a:t>
            </a:r>
            <a:r>
              <a:rPr lang="es-CL" sz="1200">
                <a:latin typeface="Cairo"/>
                <a:ea typeface="Cairo"/>
                <a:cs typeface="Cairo"/>
                <a:sym typeface="Cairo"/>
              </a:rPr>
              <a:t> enfrentan dificultades para monitorear y evaluar de manera eficiente el desempeño de sus trabajadores, ya que los procesos actuales suelen ser usualmente  lentos y desorganizados, lo que se refleja en las encuestas de satisfacción al cliente, generando reclamos.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 Esto lleva a pérdidas monetarias  y pone en riesgo la reputación del hotel.</a:t>
            </a:r>
            <a:endParaRPr b="1" sz="1200"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Raleway"/>
              <a:buNone/>
            </a:pPr>
            <a:r>
              <a:t/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</a:pPr>
            <a:r>
              <a:t/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</a:pPr>
            <a:r>
              <a:t/>
            </a:r>
            <a:endParaRPr sz="1200"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177" name="Google Shape;177;p2"/>
          <p:cNvPicPr preferRelativeResize="0"/>
          <p:nvPr/>
        </p:nvPicPr>
        <p:blipFill rotWithShape="1">
          <a:blip r:embed="rId3">
            <a:alphaModFix/>
          </a:blip>
          <a:srcRect b="32453" l="32115" r="30644" t="28744"/>
          <a:stretch/>
        </p:blipFill>
        <p:spPr>
          <a:xfrm>
            <a:off x="4479105" y="672550"/>
            <a:ext cx="729270" cy="7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8550" y="798200"/>
            <a:ext cx="2597450" cy="384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471cab302_0_16"/>
          <p:cNvSpPr txBox="1"/>
          <p:nvPr>
            <p:ph type="title"/>
          </p:nvPr>
        </p:nvSpPr>
        <p:spPr>
          <a:xfrm>
            <a:off x="560400" y="5759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/>
              <a:t>Sobre </a:t>
            </a:r>
            <a:r>
              <a:rPr b="1" lang="es-CL"/>
              <a:t>Trackify</a:t>
            </a:r>
            <a:endParaRPr b="1"/>
          </a:p>
        </p:txBody>
      </p:sp>
      <p:sp>
        <p:nvSpPr>
          <p:cNvPr id="184" name="Google Shape;184;g3a471cab302_0_16"/>
          <p:cNvSpPr txBox="1"/>
          <p:nvPr>
            <p:ph idx="1" type="subTitle"/>
          </p:nvPr>
        </p:nvSpPr>
        <p:spPr>
          <a:xfrm>
            <a:off x="661125" y="869675"/>
            <a:ext cx="3745500" cy="3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</a:pPr>
            <a:r>
              <a:t/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</a:pPr>
            <a:r>
              <a:t/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</a:pPr>
            <a:r>
              <a:t/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</a:pPr>
            <a:r>
              <a:rPr b="1" lang="es-CL" sz="1200">
                <a:latin typeface="Cairo"/>
                <a:ea typeface="Cairo"/>
                <a:cs typeface="Cairo"/>
                <a:sym typeface="Cairo"/>
              </a:rPr>
              <a:t>¿El objetivo? </a:t>
            </a:r>
            <a:endParaRPr b="1"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</a:pPr>
            <a:r>
              <a:t/>
            </a:r>
            <a:endParaRPr b="1" sz="1200"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s-CL" sz="1200">
                <a:latin typeface="Cairo"/>
                <a:ea typeface="Cairo"/>
                <a:cs typeface="Cairo"/>
                <a:sym typeface="Cairo"/>
              </a:rPr>
              <a:t>  Trackify </a:t>
            </a:r>
            <a:r>
              <a:rPr lang="es-CL" sz="1200">
                <a:latin typeface="Cairo"/>
                <a:ea typeface="Cairo"/>
                <a:cs typeface="Cairo"/>
                <a:sym typeface="Cairo"/>
              </a:rPr>
              <a:t>Propone una solución que consiste en el desarrollo de una plataforma  compuesta por una aplicación web y una aplicación móvil.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CL" sz="1200">
                <a:latin typeface="Cairo"/>
                <a:ea typeface="Cairo"/>
                <a:cs typeface="Cairo"/>
                <a:sym typeface="Cairo"/>
              </a:rPr>
              <a:t>Basado en Django y Django REST Framework, con el fin de centralizar la información de tareas, disminuyendo la cantidad de reclamos y pérdidas monetarias, o </a:t>
            </a:r>
            <a:r>
              <a:rPr lang="es-CL" sz="1200">
                <a:latin typeface="Cairo"/>
                <a:ea typeface="Cairo"/>
                <a:cs typeface="Cairo"/>
                <a:sym typeface="Cairo"/>
              </a:rPr>
              <a:t>evitándolas</a:t>
            </a:r>
            <a:r>
              <a:rPr lang="es-CL" sz="1200">
                <a:latin typeface="Cairo"/>
                <a:ea typeface="Cairo"/>
                <a:cs typeface="Cairo"/>
                <a:sym typeface="Cairo"/>
              </a:rPr>
              <a:t>, y así proteger la reputación de la empresa.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"/>
              <a:buChar char="●"/>
            </a:pPr>
            <a:r>
              <a:rPr b="1" lang="es-CL" sz="1200">
                <a:latin typeface="Cairo"/>
                <a:ea typeface="Cairo"/>
                <a:cs typeface="Cairo"/>
                <a:sym typeface="Cairo"/>
              </a:rPr>
              <a:t>Reducir un 10% tanto los despidos como </a:t>
            </a:r>
            <a:r>
              <a:rPr b="1" lang="es-CL" sz="1200">
                <a:latin typeface="Cairo"/>
                <a:ea typeface="Cairo"/>
                <a:cs typeface="Cairo"/>
                <a:sym typeface="Cairo"/>
              </a:rPr>
              <a:t>compensaciones</a:t>
            </a:r>
            <a:r>
              <a:rPr b="1" lang="es-CL" sz="1200">
                <a:latin typeface="Cairo"/>
                <a:ea typeface="Cairo"/>
                <a:cs typeface="Cairo"/>
                <a:sym typeface="Cairo"/>
              </a:rPr>
              <a:t> a clientes</a:t>
            </a:r>
            <a:r>
              <a:rPr lang="es-CL" sz="1200">
                <a:latin typeface="Cairo"/>
                <a:ea typeface="Cairo"/>
                <a:cs typeface="Cairo"/>
                <a:sym typeface="Cairo"/>
              </a:rPr>
              <a:t>. </a:t>
            </a:r>
            <a:endParaRPr sz="1200">
              <a:latin typeface="Cairo"/>
              <a:ea typeface="Cairo"/>
              <a:cs typeface="Cairo"/>
              <a:sym typeface="Cairo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iro"/>
              <a:buChar char="●"/>
            </a:pPr>
            <a:r>
              <a:rPr b="1" lang="es-CL" sz="1200">
                <a:latin typeface="Cairo"/>
                <a:ea typeface="Cairo"/>
                <a:cs typeface="Cairo"/>
                <a:sym typeface="Cairo"/>
              </a:rPr>
              <a:t>Aumentar la </a:t>
            </a:r>
            <a:r>
              <a:rPr b="1" lang="es-CL" sz="1200">
                <a:latin typeface="Cairo"/>
                <a:ea typeface="Cairo"/>
                <a:cs typeface="Cairo"/>
                <a:sym typeface="Cairo"/>
              </a:rPr>
              <a:t>reputación</a:t>
            </a:r>
            <a:r>
              <a:rPr b="1" lang="es-CL" sz="1200">
                <a:latin typeface="Cairo"/>
                <a:ea typeface="Cairo"/>
                <a:cs typeface="Cairo"/>
                <a:sym typeface="Cairo"/>
              </a:rPr>
              <a:t> del hotel un 20%, y la eficiencia un 15%</a:t>
            </a:r>
            <a:r>
              <a:rPr lang="es-CL" sz="1200">
                <a:latin typeface="Cairo"/>
                <a:ea typeface="Cairo"/>
                <a:cs typeface="Cairo"/>
                <a:sym typeface="Cairo"/>
              </a:rPr>
              <a:t>.</a:t>
            </a:r>
            <a:endParaRPr sz="120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85" name="Google Shape;185;g3a471cab302_0_16"/>
          <p:cNvSpPr/>
          <p:nvPr/>
        </p:nvSpPr>
        <p:spPr>
          <a:xfrm>
            <a:off x="536145" y="1423658"/>
            <a:ext cx="359450" cy="327076"/>
          </a:xfrm>
          <a:custGeom>
            <a:rect b="b" l="l" r="r" t="t"/>
            <a:pathLst>
              <a:path extrusionOk="0" h="11674" w="12193">
                <a:moveTo>
                  <a:pt x="9483" y="1174"/>
                </a:moveTo>
                <a:lnTo>
                  <a:pt x="9483" y="2308"/>
                </a:lnTo>
                <a:cubicBezTo>
                  <a:pt x="9483" y="2497"/>
                  <a:pt x="9641" y="2655"/>
                  <a:pt x="9830" y="2655"/>
                </a:cubicBezTo>
                <a:lnTo>
                  <a:pt x="10901" y="2655"/>
                </a:lnTo>
                <a:lnTo>
                  <a:pt x="9515" y="4041"/>
                </a:lnTo>
                <a:lnTo>
                  <a:pt x="8097" y="4041"/>
                </a:lnTo>
                <a:lnTo>
                  <a:pt x="8097" y="2560"/>
                </a:lnTo>
                <a:lnTo>
                  <a:pt x="9483" y="1174"/>
                </a:lnTo>
                <a:close/>
                <a:moveTo>
                  <a:pt x="4885" y="6181"/>
                </a:moveTo>
                <a:cubicBezTo>
                  <a:pt x="5033" y="6181"/>
                  <a:pt x="5183" y="6212"/>
                  <a:pt x="5325" y="6278"/>
                </a:cubicBezTo>
                <a:lnTo>
                  <a:pt x="4600" y="7003"/>
                </a:lnTo>
                <a:cubicBezTo>
                  <a:pt x="4474" y="7129"/>
                  <a:pt x="4474" y="7349"/>
                  <a:pt x="4600" y="7475"/>
                </a:cubicBezTo>
                <a:cubicBezTo>
                  <a:pt x="4663" y="7538"/>
                  <a:pt x="4750" y="7570"/>
                  <a:pt x="4836" y="7570"/>
                </a:cubicBezTo>
                <a:cubicBezTo>
                  <a:pt x="4923" y="7570"/>
                  <a:pt x="5010" y="7538"/>
                  <a:pt x="5073" y="7475"/>
                </a:cubicBezTo>
                <a:lnTo>
                  <a:pt x="5797" y="6751"/>
                </a:lnTo>
                <a:lnTo>
                  <a:pt x="5797" y="6751"/>
                </a:lnTo>
                <a:cubicBezTo>
                  <a:pt x="5986" y="7160"/>
                  <a:pt x="5892" y="7633"/>
                  <a:pt x="5577" y="7948"/>
                </a:cubicBezTo>
                <a:cubicBezTo>
                  <a:pt x="5388" y="8137"/>
                  <a:pt x="5128" y="8231"/>
                  <a:pt x="4864" y="8231"/>
                </a:cubicBezTo>
                <a:cubicBezTo>
                  <a:pt x="4600" y="8231"/>
                  <a:pt x="4332" y="8137"/>
                  <a:pt x="4127" y="7948"/>
                </a:cubicBezTo>
                <a:cubicBezTo>
                  <a:pt x="3749" y="7538"/>
                  <a:pt x="3749" y="6877"/>
                  <a:pt x="4127" y="6499"/>
                </a:cubicBezTo>
                <a:cubicBezTo>
                  <a:pt x="4333" y="6293"/>
                  <a:pt x="4606" y="6181"/>
                  <a:pt x="4885" y="6181"/>
                </a:cubicBezTo>
                <a:close/>
                <a:moveTo>
                  <a:pt x="4897" y="4831"/>
                </a:moveTo>
                <a:cubicBezTo>
                  <a:pt x="5396" y="4831"/>
                  <a:pt x="5890" y="4990"/>
                  <a:pt x="6301" y="5301"/>
                </a:cubicBezTo>
                <a:lnTo>
                  <a:pt x="5829" y="5774"/>
                </a:lnTo>
                <a:cubicBezTo>
                  <a:pt x="5553" y="5590"/>
                  <a:pt x="5233" y="5499"/>
                  <a:pt x="4911" y="5499"/>
                </a:cubicBezTo>
                <a:cubicBezTo>
                  <a:pt x="4460" y="5499"/>
                  <a:pt x="4004" y="5677"/>
                  <a:pt x="3655" y="6026"/>
                </a:cubicBezTo>
                <a:cubicBezTo>
                  <a:pt x="2993" y="6688"/>
                  <a:pt x="2993" y="7790"/>
                  <a:pt x="3655" y="8420"/>
                </a:cubicBezTo>
                <a:cubicBezTo>
                  <a:pt x="3986" y="8751"/>
                  <a:pt x="4427" y="8917"/>
                  <a:pt x="4864" y="8917"/>
                </a:cubicBezTo>
                <a:cubicBezTo>
                  <a:pt x="5301" y="8917"/>
                  <a:pt x="5734" y="8751"/>
                  <a:pt x="6049" y="8420"/>
                </a:cubicBezTo>
                <a:cubicBezTo>
                  <a:pt x="6648" y="7822"/>
                  <a:pt x="6742" y="6908"/>
                  <a:pt x="6301" y="6246"/>
                </a:cubicBezTo>
                <a:lnTo>
                  <a:pt x="6774" y="5774"/>
                </a:lnTo>
                <a:lnTo>
                  <a:pt x="6774" y="5774"/>
                </a:lnTo>
                <a:cubicBezTo>
                  <a:pt x="7467" y="6719"/>
                  <a:pt x="7404" y="8074"/>
                  <a:pt x="6585" y="8924"/>
                </a:cubicBezTo>
                <a:cubicBezTo>
                  <a:pt x="6112" y="9397"/>
                  <a:pt x="5498" y="9633"/>
                  <a:pt x="4883" y="9633"/>
                </a:cubicBezTo>
                <a:cubicBezTo>
                  <a:pt x="4269" y="9633"/>
                  <a:pt x="3655" y="9397"/>
                  <a:pt x="3182" y="8924"/>
                </a:cubicBezTo>
                <a:cubicBezTo>
                  <a:pt x="2237" y="7979"/>
                  <a:pt x="2237" y="6499"/>
                  <a:pt x="3182" y="5553"/>
                </a:cubicBezTo>
                <a:cubicBezTo>
                  <a:pt x="3667" y="5068"/>
                  <a:pt x="4286" y="4831"/>
                  <a:pt x="4897" y="4831"/>
                </a:cubicBezTo>
                <a:close/>
                <a:moveTo>
                  <a:pt x="4873" y="3463"/>
                </a:moveTo>
                <a:cubicBezTo>
                  <a:pt x="5728" y="3463"/>
                  <a:pt x="6583" y="3748"/>
                  <a:pt x="7278" y="4325"/>
                </a:cubicBezTo>
                <a:lnTo>
                  <a:pt x="6805" y="4797"/>
                </a:lnTo>
                <a:cubicBezTo>
                  <a:pt x="6228" y="4353"/>
                  <a:pt x="5533" y="4125"/>
                  <a:pt x="4844" y="4125"/>
                </a:cubicBezTo>
                <a:cubicBezTo>
                  <a:pt x="4065" y="4125"/>
                  <a:pt x="3294" y="4416"/>
                  <a:pt x="2710" y="5018"/>
                </a:cubicBezTo>
                <a:cubicBezTo>
                  <a:pt x="1481" y="6246"/>
                  <a:pt x="1481" y="8168"/>
                  <a:pt x="2710" y="9397"/>
                </a:cubicBezTo>
                <a:cubicBezTo>
                  <a:pt x="3324" y="10011"/>
                  <a:pt x="4112" y="10318"/>
                  <a:pt x="4899" y="10318"/>
                </a:cubicBezTo>
                <a:cubicBezTo>
                  <a:pt x="5687" y="10318"/>
                  <a:pt x="6474" y="10011"/>
                  <a:pt x="7089" y="9397"/>
                </a:cubicBezTo>
                <a:cubicBezTo>
                  <a:pt x="8223" y="8263"/>
                  <a:pt x="8255" y="6467"/>
                  <a:pt x="7309" y="5301"/>
                </a:cubicBezTo>
                <a:lnTo>
                  <a:pt x="7782" y="4829"/>
                </a:lnTo>
                <a:lnTo>
                  <a:pt x="7782" y="4829"/>
                </a:lnTo>
                <a:cubicBezTo>
                  <a:pt x="8979" y="6278"/>
                  <a:pt x="8885" y="8483"/>
                  <a:pt x="7530" y="9870"/>
                </a:cubicBezTo>
                <a:cubicBezTo>
                  <a:pt x="6790" y="10594"/>
                  <a:pt x="5821" y="10956"/>
                  <a:pt x="4856" y="10956"/>
                </a:cubicBezTo>
                <a:cubicBezTo>
                  <a:pt x="3891" y="10956"/>
                  <a:pt x="2930" y="10594"/>
                  <a:pt x="2206" y="9870"/>
                </a:cubicBezTo>
                <a:cubicBezTo>
                  <a:pt x="756" y="8420"/>
                  <a:pt x="756" y="6026"/>
                  <a:pt x="2206" y="4545"/>
                </a:cubicBezTo>
                <a:cubicBezTo>
                  <a:pt x="2941" y="3827"/>
                  <a:pt x="3907" y="3463"/>
                  <a:pt x="4873" y="3463"/>
                </a:cubicBezTo>
                <a:close/>
                <a:moveTo>
                  <a:pt x="9899" y="0"/>
                </a:moveTo>
                <a:cubicBezTo>
                  <a:pt x="9813" y="0"/>
                  <a:pt x="9722" y="32"/>
                  <a:pt x="9641" y="103"/>
                </a:cubicBezTo>
                <a:lnTo>
                  <a:pt x="7561" y="2182"/>
                </a:lnTo>
                <a:cubicBezTo>
                  <a:pt x="7467" y="2277"/>
                  <a:pt x="7435" y="2340"/>
                  <a:pt x="7435" y="2434"/>
                </a:cubicBezTo>
                <a:lnTo>
                  <a:pt x="7435" y="3600"/>
                </a:lnTo>
                <a:cubicBezTo>
                  <a:pt x="6670" y="3071"/>
                  <a:pt x="5769" y="2807"/>
                  <a:pt x="4868" y="2807"/>
                </a:cubicBezTo>
                <a:cubicBezTo>
                  <a:pt x="3731" y="2807"/>
                  <a:pt x="2595" y="3229"/>
                  <a:pt x="1733" y="4073"/>
                </a:cubicBezTo>
                <a:cubicBezTo>
                  <a:pt x="0" y="5805"/>
                  <a:pt x="0" y="8641"/>
                  <a:pt x="1733" y="10374"/>
                </a:cubicBezTo>
                <a:cubicBezTo>
                  <a:pt x="2599" y="11240"/>
                  <a:pt x="3741" y="11673"/>
                  <a:pt x="4883" y="11673"/>
                </a:cubicBezTo>
                <a:cubicBezTo>
                  <a:pt x="6026" y="11673"/>
                  <a:pt x="7168" y="11240"/>
                  <a:pt x="8034" y="10374"/>
                </a:cubicBezTo>
                <a:cubicBezTo>
                  <a:pt x="9578" y="8861"/>
                  <a:pt x="9735" y="6436"/>
                  <a:pt x="8538" y="4703"/>
                </a:cubicBezTo>
                <a:lnTo>
                  <a:pt x="9672" y="4703"/>
                </a:lnTo>
                <a:cubicBezTo>
                  <a:pt x="9767" y="4703"/>
                  <a:pt x="9893" y="4671"/>
                  <a:pt x="9924" y="4608"/>
                </a:cubicBezTo>
                <a:lnTo>
                  <a:pt x="12004" y="2497"/>
                </a:lnTo>
                <a:cubicBezTo>
                  <a:pt x="12193" y="2308"/>
                  <a:pt x="12035" y="1962"/>
                  <a:pt x="11783" y="1962"/>
                </a:cubicBezTo>
                <a:lnTo>
                  <a:pt x="10239" y="1962"/>
                </a:lnTo>
                <a:lnTo>
                  <a:pt x="10239" y="355"/>
                </a:lnTo>
                <a:cubicBezTo>
                  <a:pt x="10239" y="141"/>
                  <a:pt x="10080" y="0"/>
                  <a:pt x="989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g3a471cab302_0_16"/>
          <p:cNvPicPr preferRelativeResize="0"/>
          <p:nvPr/>
        </p:nvPicPr>
        <p:blipFill rotWithShape="1">
          <a:blip r:embed="rId3">
            <a:alphaModFix/>
          </a:blip>
          <a:srcRect b="432" l="3704" r="5062" t="2974"/>
          <a:stretch/>
        </p:blipFill>
        <p:spPr>
          <a:xfrm>
            <a:off x="4664300" y="367275"/>
            <a:ext cx="2627000" cy="421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97328f41c_4_0"/>
          <p:cNvSpPr txBox="1"/>
          <p:nvPr>
            <p:ph type="title"/>
          </p:nvPr>
        </p:nvSpPr>
        <p:spPr>
          <a:xfrm>
            <a:off x="670575" y="3050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/>
              <a:t>Alcances:</a:t>
            </a:r>
            <a:endParaRPr/>
          </a:p>
        </p:txBody>
      </p:sp>
      <p:pic>
        <p:nvPicPr>
          <p:cNvPr id="192" name="Google Shape;192;g3897328f41c_4_0"/>
          <p:cNvPicPr preferRelativeResize="0"/>
          <p:nvPr/>
        </p:nvPicPr>
        <p:blipFill rotWithShape="1">
          <a:blip r:embed="rId3">
            <a:alphaModFix/>
          </a:blip>
          <a:srcRect b="6888" l="0" r="0" t="0"/>
          <a:stretch/>
        </p:blipFill>
        <p:spPr>
          <a:xfrm>
            <a:off x="2110950" y="1014800"/>
            <a:ext cx="5156076" cy="3480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9e7368040_0_19"/>
          <p:cNvSpPr txBox="1"/>
          <p:nvPr/>
        </p:nvSpPr>
        <p:spPr>
          <a:xfrm>
            <a:off x="3495690" y="1814900"/>
            <a:ext cx="20718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2850" lIns="92850" spcFirstLastPara="1" rIns="92850" wrap="square" tIns="92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2"/>
              <a:buFont typeface="Arial"/>
              <a:buNone/>
            </a:pPr>
            <a:r>
              <a:rPr b="1" i="0" lang="es-CL" sz="812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Monitorea uso de apps y sitios web, y también tiempo de inactividad (“active/idle time”).</a:t>
            </a:r>
            <a:endParaRPr b="1" i="0" sz="812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7"/>
              <a:buFont typeface="Arial"/>
              <a:buNone/>
            </a:pPr>
            <a:r>
              <a:rPr b="0" i="0" lang="es-CL" sz="1116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endParaRPr b="0" i="0" sz="1116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98" name="Google Shape;198;g399e7368040_0_19"/>
          <p:cNvSpPr txBox="1"/>
          <p:nvPr/>
        </p:nvSpPr>
        <p:spPr>
          <a:xfrm>
            <a:off x="7374756" y="2034815"/>
            <a:ext cx="14001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75200" lIns="75200" spcFirstLastPara="1" rIns="75200" wrap="square" tIns="75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b="1" lang="es-CL" sz="696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Ofrece m</a:t>
            </a:r>
            <a:r>
              <a:rPr b="1" i="0" lang="es-CL" sz="696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onitoreo “no invasivo” </a:t>
            </a:r>
            <a:endParaRPr b="1" i="0" sz="696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7"/>
              <a:buFont typeface="Arial"/>
              <a:buNone/>
            </a:pPr>
            <a:r>
              <a:rPr b="1" i="0" lang="es-CL" sz="696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para empleados in-office. </a:t>
            </a:r>
            <a:endParaRPr b="1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99e7368040_0_19"/>
          <p:cNvSpPr txBox="1"/>
          <p:nvPr/>
        </p:nvSpPr>
        <p:spPr>
          <a:xfrm>
            <a:off x="2251950" y="238975"/>
            <a:ext cx="4640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i="0" lang="es-CL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Análisis del mercado</a:t>
            </a:r>
            <a:endParaRPr i="0" sz="3000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200" name="Google Shape;200;g399e7368040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4950" y="2359676"/>
            <a:ext cx="1591506" cy="1708293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99e7368040_0_19"/>
          <p:cNvSpPr txBox="1"/>
          <p:nvPr/>
        </p:nvSpPr>
        <p:spPr>
          <a:xfrm>
            <a:off x="5773999" y="2056665"/>
            <a:ext cx="13944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87625" lIns="87625" spcFirstLastPara="1" rIns="87625" wrap="square" tIns="876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4"/>
              <a:buFont typeface="Arial"/>
              <a:buNone/>
            </a:pPr>
            <a:r>
              <a:rPr b="1" i="0" lang="es-CL" sz="814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Monitoreo “in office”</a:t>
            </a:r>
            <a:endParaRPr b="1" i="0" sz="814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202" name="Google Shape;202;g399e7368040_0_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67514" y="2385288"/>
            <a:ext cx="1482018" cy="1582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399e7368040_0_19"/>
          <p:cNvPicPr preferRelativeResize="0"/>
          <p:nvPr/>
        </p:nvPicPr>
        <p:blipFill rotWithShape="1">
          <a:blip r:embed="rId5">
            <a:alphaModFix/>
          </a:blip>
          <a:srcRect b="0" l="0" r="4259" t="0"/>
          <a:stretch/>
        </p:blipFill>
        <p:spPr>
          <a:xfrm>
            <a:off x="7298801" y="2395499"/>
            <a:ext cx="1507099" cy="158288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99e7368040_0_19"/>
          <p:cNvSpPr txBox="1"/>
          <p:nvPr/>
        </p:nvSpPr>
        <p:spPr>
          <a:xfrm>
            <a:off x="2085564" y="1913312"/>
            <a:ext cx="11553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025" lIns="82000" spcFirstLastPara="1" rIns="82000" wrap="square" tIns="410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"/>
              <a:buFont typeface="Arial"/>
              <a:buNone/>
            </a:pPr>
            <a:r>
              <a:rPr b="1" i="0" lang="es-CL" sz="759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Precio depende de cada servicio contratado</a:t>
            </a:r>
            <a:endParaRPr b="1" i="0" sz="759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205" name="Google Shape;205;g399e7368040_0_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74633" y="2413968"/>
            <a:ext cx="1521044" cy="1564397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99e7368040_0_19"/>
          <p:cNvSpPr txBox="1"/>
          <p:nvPr/>
        </p:nvSpPr>
        <p:spPr>
          <a:xfrm>
            <a:off x="787338" y="1103600"/>
            <a:ext cx="718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Empresas similares: </a:t>
            </a:r>
            <a:r>
              <a:rPr lang="es-CL" sz="11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Awareness Technologies – EEUU</a:t>
            </a:r>
            <a:r>
              <a:rPr lang="es-CL" sz="1300"/>
              <a:t> - </a:t>
            </a:r>
            <a:r>
              <a:rPr lang="es-CL" sz="11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Controlio - EEUU</a:t>
            </a:r>
            <a:r>
              <a:rPr lang="es-CL" sz="1300"/>
              <a:t> </a:t>
            </a:r>
            <a:r>
              <a:rPr lang="es-CL" sz="11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Work time – Canadá</a:t>
            </a:r>
            <a:r>
              <a:rPr lang="es-CL" sz="1300"/>
              <a:t> - </a:t>
            </a:r>
            <a:r>
              <a:rPr lang="es-CL" sz="11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Selfa - Chile</a:t>
            </a:r>
            <a:endParaRPr sz="1300"/>
          </a:p>
        </p:txBody>
      </p:sp>
      <p:sp>
        <p:nvSpPr>
          <p:cNvPr id="207" name="Google Shape;207;g399e7368040_0_19"/>
          <p:cNvSpPr txBox="1"/>
          <p:nvPr/>
        </p:nvSpPr>
        <p:spPr>
          <a:xfrm>
            <a:off x="617285" y="2056668"/>
            <a:ext cx="17046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25" lIns="80025" spcFirstLastPara="1" rIns="80025" wrap="square" tIns="8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41"/>
              <a:buFont typeface="Arial"/>
              <a:buNone/>
            </a:pPr>
            <a:r>
              <a:rPr b="1" i="0" lang="es-CL" sz="741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Operan en Chile:</a:t>
            </a:r>
            <a:endParaRPr b="0" i="0" sz="12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g399e7368040_0_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8250" y="2446974"/>
            <a:ext cx="1521052" cy="1555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3" name="Google Shape;213;p4"/>
          <p:cNvGraphicFramePr/>
          <p:nvPr/>
        </p:nvGraphicFramePr>
        <p:xfrm>
          <a:off x="1494149" y="11642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{51EC4E29-5E36-4605-A73E-0D4984997889}</a:tableStyleId>
              </a:tblPr>
              <a:tblGrid>
                <a:gridCol w="1307600"/>
                <a:gridCol w="4623050"/>
              </a:tblGrid>
              <a:tr h="444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ID RF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Requerimiento funcional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6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RFs: 8-9-11-14</a:t>
                      </a:r>
                      <a:endParaRPr b="1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Administración</a:t>
                      </a:r>
                      <a:r>
                        <a:rPr b="0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 de: Usuarios del sistema, Departamentos o área,  Tareas asignadas a supervisores y trabajadores.</a:t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R-4</a:t>
                      </a:r>
                      <a:endParaRPr sz="1400" u="none" cap="none" strike="noStrike"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Diferenciar el acceso según roles (Gerente, Supervisor y Trabajador)</a:t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R-6</a:t>
                      </a:r>
                      <a:endParaRPr sz="1400" u="none" cap="none" strike="noStrike"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Recuperar la contraseña mediante SMS.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R-13</a:t>
                      </a:r>
                      <a:endParaRPr sz="1400" u="none" cap="none" strike="noStrike"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Generar y visualizar de dashboards de productividad</a:t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R-16</a:t>
                      </a:r>
                      <a:endParaRPr b="1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Calificar el desempeño de los Trabajadores y supervisores</a:t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R-24</a:t>
                      </a:r>
                      <a:endParaRPr sz="1400" u="none" cap="none" strike="noStrike"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Generar reportes individuales y globales de desempeño</a:t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14" name="Google Shape;214;p4"/>
          <p:cNvSpPr txBox="1"/>
          <p:nvPr/>
        </p:nvSpPr>
        <p:spPr>
          <a:xfrm>
            <a:off x="2063292" y="469291"/>
            <a:ext cx="536149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Requerimientos</a:t>
            </a:r>
            <a:r>
              <a:rPr b="0" i="0" lang="es-C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CL" sz="24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funcionales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"/>
          <p:cNvSpPr txBox="1"/>
          <p:nvPr>
            <p:ph type="title"/>
          </p:nvPr>
        </p:nvSpPr>
        <p:spPr>
          <a:xfrm>
            <a:off x="1722804" y="397891"/>
            <a:ext cx="4941946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 sz="2400"/>
              <a:t>Requerimientos</a:t>
            </a:r>
            <a:r>
              <a:rPr lang="es-CL" sz="1400"/>
              <a:t> </a:t>
            </a:r>
            <a:r>
              <a:rPr lang="es-CL" sz="2400"/>
              <a:t>no funcionales</a:t>
            </a:r>
            <a:br>
              <a:rPr lang="es-CL" sz="3200"/>
            </a:br>
            <a:endParaRPr/>
          </a:p>
        </p:txBody>
      </p:sp>
      <p:graphicFrame>
        <p:nvGraphicFramePr>
          <p:cNvPr id="220" name="Google Shape;220;p6"/>
          <p:cNvGraphicFramePr/>
          <p:nvPr/>
        </p:nvGraphicFramePr>
        <p:xfrm>
          <a:off x="1527141" y="11642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{51EC4E29-5E36-4605-A73E-0D4984997889}</a:tableStyleId>
              </a:tblPr>
              <a:tblGrid>
                <a:gridCol w="1309425"/>
                <a:gridCol w="4629475"/>
              </a:tblGrid>
              <a:tr h="444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ID RNF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Requerimiento no funcional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6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RNF-1</a:t>
                      </a:r>
                      <a:endParaRPr b="1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Disponibilidad en versión web y móvil</a:t>
                      </a:r>
                      <a:r>
                        <a:rPr lang="es-CL" sz="105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:  Al menos </a:t>
                      </a:r>
                      <a:r>
                        <a:rPr b="0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98%</a:t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RNF-2</a:t>
                      </a:r>
                      <a:endParaRPr b="1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La aplicación web debe ser responsiva y funcionar en distintos navegadores</a:t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RNF-3</a:t>
                      </a:r>
                      <a:endParaRPr b="1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La aplicación móvil debe ser compatible con diferentes dispositivos y tamaños de pantalla</a:t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RNF-5</a:t>
                      </a:r>
                      <a:endParaRPr b="1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La aplicación móvil debe tener una interfaz simple y optimizada para Trabajadores</a:t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RNF-9</a:t>
                      </a:r>
                      <a:endParaRPr b="1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1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El código del sistema debe estar versionado en un repositorio Git</a:t>
                      </a:r>
                      <a:endParaRPr sz="1400" u="none" cap="none" strike="noStrike"/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0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RNF-12</a:t>
                      </a:r>
                      <a:endParaRPr b="1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Contar con un servidor web y una base de datos.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897328f41c_1_13"/>
          <p:cNvSpPr txBox="1"/>
          <p:nvPr>
            <p:ph type="title"/>
          </p:nvPr>
        </p:nvSpPr>
        <p:spPr>
          <a:xfrm>
            <a:off x="774925" y="4168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/>
              <a:t>Planificación</a:t>
            </a:r>
            <a:endParaRPr/>
          </a:p>
        </p:txBody>
      </p:sp>
      <p:sp>
        <p:nvSpPr>
          <p:cNvPr id="226" name="Google Shape;226;g3897328f41c_1_13"/>
          <p:cNvSpPr txBox="1"/>
          <p:nvPr/>
        </p:nvSpPr>
        <p:spPr>
          <a:xfrm>
            <a:off x="3320213" y="3086300"/>
            <a:ext cx="22989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150">
                <a:solidFill>
                  <a:srgbClr val="241160"/>
                </a:solidFill>
                <a:latin typeface="Space Grotesk"/>
                <a:ea typeface="Space Grotesk"/>
                <a:cs typeface="Space Grotesk"/>
                <a:sym typeface="Space Grotesk"/>
              </a:rPr>
              <a:t>Duración total:  17 semanas</a:t>
            </a:r>
            <a:endParaRPr b="1" sz="1050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graphicFrame>
        <p:nvGraphicFramePr>
          <p:cNvPr id="227" name="Google Shape;227;g3897328f41c_1_13"/>
          <p:cNvGraphicFramePr/>
          <p:nvPr/>
        </p:nvGraphicFramePr>
        <p:xfrm>
          <a:off x="627584" y="1742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{BE414B90-7BC1-452E-AA19-E73AA1BA2755}</a:tableStyleId>
              </a:tblPr>
              <a:tblGrid>
                <a:gridCol w="1340025"/>
                <a:gridCol w="4522675"/>
                <a:gridCol w="893575"/>
                <a:gridCol w="927900"/>
              </a:tblGrid>
              <a:tr h="28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50" u="none" cap="none" strike="noStrike">
                        <a:solidFill>
                          <a:srgbClr val="241160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150" u="none" cap="none" strike="noStrike">
                          <a:solidFill>
                            <a:srgbClr val="24116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Nombre</a:t>
                      </a:r>
                      <a:r>
                        <a:rPr b="1" lang="es-CL" sz="14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1" lang="es-CL" sz="1150" u="none" cap="none" strike="noStrike">
                          <a:solidFill>
                            <a:srgbClr val="24116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Fase</a:t>
                      </a:r>
                      <a:endParaRPr b="1" sz="14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150" u="none" cap="none" strike="noStrike">
                          <a:solidFill>
                            <a:srgbClr val="24116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Fecha inicio</a:t>
                      </a:r>
                      <a:endParaRPr b="1" sz="1150" u="none" cap="none" strike="noStrike">
                        <a:solidFill>
                          <a:srgbClr val="241160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150" u="none" cap="none" strike="noStrike">
                          <a:solidFill>
                            <a:srgbClr val="241160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Fecha término</a:t>
                      </a:r>
                      <a:endParaRPr b="1" sz="1150" u="none" cap="none" strike="noStrike">
                        <a:solidFill>
                          <a:srgbClr val="241160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45725" marB="45725" marR="91450" marL="91450" anchor="ctr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4FC"/>
                    </a:solidFill>
                  </a:tcPr>
                </a:tc>
              </a:tr>
              <a:tr h="19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5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Primera fase</a:t>
                      </a:r>
                      <a:endParaRPr sz="105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73025" marL="730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5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Fase de planificación 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5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11/08/2025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5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18/08/2025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5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Fase final</a:t>
                      </a:r>
                      <a:endParaRPr sz="105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73025" marL="730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5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Fase de implementación y cierre </a:t>
                      </a:r>
                      <a:endParaRPr sz="12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5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10/11/2025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05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 04/12/2025</a:t>
                      </a:r>
                      <a:endParaRPr sz="105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53b23e6e0_1_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CL"/>
              <a:t>Modelo AS IS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233" name="Google Shape;233;g3953b23e6e0_1_0" title="AS i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850" y="1130825"/>
            <a:ext cx="8029848" cy="3820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"/>
          <p:cNvSpPr txBox="1"/>
          <p:nvPr>
            <p:ph type="title"/>
          </p:nvPr>
        </p:nvSpPr>
        <p:spPr>
          <a:xfrm>
            <a:off x="720000" y="374669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/>
              <a:t>Diagrama de casos de uso</a:t>
            </a:r>
            <a:endParaRPr/>
          </a:p>
        </p:txBody>
      </p:sp>
      <p:pic>
        <p:nvPicPr>
          <p:cNvPr id="239" name="Google Shape;239;p3" title="Caso_uso_acorta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000" y="1099775"/>
            <a:ext cx="7329901" cy="389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4" name="Google Shape;244;g399eef8c87c_0_21"/>
          <p:cNvGraphicFramePr/>
          <p:nvPr/>
        </p:nvGraphicFramePr>
        <p:xfrm>
          <a:off x="4001194" y="14436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{51EC4E29-5E36-4605-A73E-0D4984997889}</a:tableStyleId>
              </a:tblPr>
              <a:tblGrid>
                <a:gridCol w="1595475"/>
                <a:gridCol w="2347475"/>
              </a:tblGrid>
              <a:tr h="489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Categoría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Herramientas / lenguajes/ tecnología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653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Front -end</a:t>
                      </a:r>
                      <a:r>
                        <a:rPr b="1" lang="es-CL" sz="110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 -</a:t>
                      </a:r>
                      <a:endParaRPr b="1" sz="110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L" sz="110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Frameworks: </a:t>
                      </a:r>
                      <a:endParaRPr b="1" sz="105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TypeScript (móvil)</a:t>
                      </a:r>
                      <a:b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</a:b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HTML5, CSS3, JavaScript (web)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React Native con Expo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Bootstrap</a:t>
                      </a:r>
                      <a:endParaRPr sz="105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3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Back- end -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Frameworks: 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Python 3.10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Django 5.x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Django REST Framework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0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Base de Datos: 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SQLite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Repositorios -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control de versiones: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GitHub / Git</a:t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10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Túnel de red/tunneling service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Ngrok - Permite exponer un servidor local a una URL pública (para webhooks y APIs)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45" name="Google Shape;245;g399eef8c87c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738" y="1720749"/>
            <a:ext cx="400998" cy="400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g399eef8c87c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0636" y="1720752"/>
            <a:ext cx="401001" cy="401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399eef8c87c_0_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47048" y="1704401"/>
            <a:ext cx="433699" cy="433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g399eef8c87c_0_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85755" y="1704412"/>
            <a:ext cx="433699" cy="433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g399eef8c87c_0_21"/>
          <p:cNvPicPr preferRelativeResize="0"/>
          <p:nvPr/>
        </p:nvPicPr>
        <p:blipFill rotWithShape="1">
          <a:blip r:embed="rId7">
            <a:alphaModFix/>
          </a:blip>
          <a:srcRect b="0" l="0" r="0" t="9804"/>
          <a:stretch/>
        </p:blipFill>
        <p:spPr>
          <a:xfrm>
            <a:off x="883206" y="2368375"/>
            <a:ext cx="381955" cy="406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g399eef8c87c_0_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57968" y="2432558"/>
            <a:ext cx="719505" cy="249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g399eef8c87c_0_21"/>
          <p:cNvPicPr preferRelativeResize="0"/>
          <p:nvPr/>
        </p:nvPicPr>
        <p:blipFill rotWithShape="1">
          <a:blip r:embed="rId9">
            <a:alphaModFix/>
          </a:blip>
          <a:srcRect b="0" l="10088" r="0" t="0"/>
          <a:stretch/>
        </p:blipFill>
        <p:spPr>
          <a:xfrm>
            <a:off x="2205951" y="2385918"/>
            <a:ext cx="758045" cy="371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g399eef8c87c_0_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975968" y="2337433"/>
            <a:ext cx="468631" cy="468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g399eef8c87c_0_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730081" y="3005409"/>
            <a:ext cx="786525" cy="372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g399eef8c87c_0_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583006" y="3476131"/>
            <a:ext cx="468628" cy="456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g399eef8c87c_0_21"/>
          <p:cNvPicPr preferRelativeResize="0"/>
          <p:nvPr/>
        </p:nvPicPr>
        <p:blipFill rotWithShape="1">
          <a:blip r:embed="rId13">
            <a:alphaModFix/>
          </a:blip>
          <a:srcRect b="0" l="22234" r="18664" t="0"/>
          <a:stretch/>
        </p:blipFill>
        <p:spPr>
          <a:xfrm>
            <a:off x="2266998" y="3510720"/>
            <a:ext cx="477801" cy="468629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g399eef8c87c_0_21"/>
          <p:cNvSpPr txBox="1"/>
          <p:nvPr/>
        </p:nvSpPr>
        <p:spPr>
          <a:xfrm>
            <a:off x="540100" y="396925"/>
            <a:ext cx="7536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Arquitectura y</a:t>
            </a:r>
            <a:endParaRPr b="0" i="0" sz="2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Tecnologías de desarrollo</a:t>
            </a:r>
            <a:endParaRPr b="0" i="0" sz="2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257" name="Google Shape;257;g399eef8c87c_0_21"/>
          <p:cNvPicPr preferRelativeResize="0"/>
          <p:nvPr/>
        </p:nvPicPr>
        <p:blipFill rotWithShape="1">
          <a:blip r:embed="rId14">
            <a:alphaModFix/>
          </a:blip>
          <a:srcRect b="8423" l="0" r="0" t="8731"/>
          <a:stretch/>
        </p:blipFill>
        <p:spPr>
          <a:xfrm>
            <a:off x="1604762" y="4090267"/>
            <a:ext cx="1140034" cy="433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399eef8c87c_0_21"/>
          <p:cNvPicPr preferRelativeResize="0"/>
          <p:nvPr/>
        </p:nvPicPr>
        <p:blipFill rotWithShape="1">
          <a:blip r:embed="rId15">
            <a:alphaModFix/>
          </a:blip>
          <a:srcRect b="3050" l="0" r="0" t="16878"/>
          <a:stretch/>
        </p:blipFill>
        <p:spPr>
          <a:xfrm>
            <a:off x="3026431" y="1737100"/>
            <a:ext cx="497343" cy="40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"/>
          <p:cNvSpPr txBox="1"/>
          <p:nvPr>
            <p:ph type="title"/>
          </p:nvPr>
        </p:nvSpPr>
        <p:spPr>
          <a:xfrm>
            <a:off x="350469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/>
              <a:t>Matriz de riesgo</a:t>
            </a:r>
            <a:endParaRPr/>
          </a:p>
        </p:txBody>
      </p:sp>
      <p:graphicFrame>
        <p:nvGraphicFramePr>
          <p:cNvPr id="264" name="Google Shape;264;p13"/>
          <p:cNvGraphicFramePr/>
          <p:nvPr/>
        </p:nvGraphicFramePr>
        <p:xfrm>
          <a:off x="350469" y="1140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{51EC4E29-5E36-4605-A73E-0D4984997889}</a:tableStyleId>
              </a:tblPr>
              <a:tblGrid>
                <a:gridCol w="663900"/>
                <a:gridCol w="2347200"/>
                <a:gridCol w="938375"/>
                <a:gridCol w="961975"/>
                <a:gridCol w="718075"/>
                <a:gridCol w="2693425"/>
              </a:tblGrid>
              <a:tr h="43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-CL" sz="800" u="none" cap="none" strike="noStrike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ID Riesgo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Riesgo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Categoría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000" u="none" cap="none" strike="noStrike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Probabilidad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Impacto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Space Grotesk Medium"/>
                          <a:ea typeface="Space Grotesk Medium"/>
                          <a:cs typeface="Space Grotesk Medium"/>
                          <a:sym typeface="Space Grotesk Medium"/>
                        </a:rPr>
                        <a:t>Acción de Mitigación y responsable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Space Grotesk Medium"/>
                        <a:ea typeface="Space Grotesk Medium"/>
                        <a:cs typeface="Space Grotesk Medium"/>
                        <a:sym typeface="Space Grotesk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R-1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Fallas en la sincronización entre la app móvil y la plataforma web</a:t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Técnico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3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3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Implementar pruebas de integración continuas y monitoreo de sincronización- </a:t>
                      </a:r>
                      <a:r>
                        <a:rPr b="1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Equipo TI</a:t>
                      </a:r>
                      <a:endParaRPr b="1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R-2</a:t>
                      </a:r>
                      <a:endParaRPr sz="1400" u="none" cap="none" strike="noStrike"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Sobrecarga del servidor por alta concurrencia de usuarios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Técnico</a:t>
                      </a:r>
                      <a:endParaRPr sz="1400" u="none" cap="none" strike="noStrike"/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3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2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Mantener pruebas en múltiples dispositivos y versiones; actualizar librerías - </a:t>
                      </a:r>
                      <a:r>
                        <a:rPr b="1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Programador</a:t>
                      </a:r>
                      <a:endParaRPr b="1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7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R-7</a:t>
                      </a:r>
                      <a:endParaRPr sz="1400" u="none" cap="none" strike="noStrike"/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Robo de credenciales de usuario</a:t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Seguridad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3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3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Realizar pruebas de penetración y auditorías de seguridad periódicas - </a:t>
                      </a:r>
                      <a:r>
                        <a:rPr b="1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Equipo de Ciberseguridad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7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R-</a:t>
                      </a:r>
                      <a:r>
                        <a:rPr b="1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10</a:t>
                      </a:r>
                      <a:endParaRPr b="1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Resistencia al cambio por parte de los trabajadores</a:t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Organizacional</a:t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3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4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Realización de capacitaciones y orientación a los usuarios, incluso después de la marcha blanca </a:t>
                      </a:r>
                      <a:r>
                        <a:rPr b="1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- RRHH/Equipo de TI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i="0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R-21</a:t>
                      </a:r>
                      <a:endParaRPr b="1" i="0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Uso de dispositivos móviles obsoletos por parte del personal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Técnico/UX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3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2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Establecer requisitos mínimos de hardware y plan de renovación de dispositivos- </a:t>
                      </a:r>
                      <a:r>
                        <a:rPr b="1" lang="es-CL" sz="1050" u="none" cap="none" strike="noStrike">
                          <a:solidFill>
                            <a:schemeClr val="dk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Jefatura de Proyecto- Equipo TI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"/>
          <p:cNvSpPr txBox="1"/>
          <p:nvPr/>
        </p:nvSpPr>
        <p:spPr>
          <a:xfrm>
            <a:off x="619532" y="1398525"/>
            <a:ext cx="202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9"/>
          <p:cNvSpPr txBox="1"/>
          <p:nvPr>
            <p:ph type="title"/>
          </p:nvPr>
        </p:nvSpPr>
        <p:spPr>
          <a:xfrm>
            <a:off x="569823" y="1398525"/>
            <a:ext cx="323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 sz="1900"/>
              <a:t>Diagrama de </a:t>
            </a:r>
            <a:br>
              <a:rPr lang="es-CL" sz="1900"/>
            </a:br>
            <a:r>
              <a:rPr lang="es-CL" sz="2300"/>
              <a:t>Despliegue -</a:t>
            </a:r>
            <a:endParaRPr sz="2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 sz="2300"/>
              <a:t> Web</a:t>
            </a:r>
            <a:br>
              <a:rPr lang="es-CL" sz="1900"/>
            </a:br>
            <a:br>
              <a:rPr lang="es-CL" sz="1900"/>
            </a:br>
            <a:endParaRPr sz="1900"/>
          </a:p>
        </p:txBody>
      </p:sp>
      <p:pic>
        <p:nvPicPr>
          <p:cNvPr id="271" name="Google Shape;27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000" y="996800"/>
            <a:ext cx="5614300" cy="3744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9"/>
          <p:cNvSpPr txBox="1"/>
          <p:nvPr/>
        </p:nvSpPr>
        <p:spPr>
          <a:xfrm>
            <a:off x="480400" y="450125"/>
            <a:ext cx="5636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CL" sz="21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Vista</a:t>
            </a:r>
            <a:r>
              <a:rPr b="0" i="0" lang="es-CL" sz="1400" u="none" cap="none" strike="noStrike">
                <a:solidFill>
                  <a:srgbClr val="110830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0" i="0" lang="es-CL" sz="21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de despliegue</a:t>
            </a:r>
            <a:endParaRPr b="0" i="0" sz="21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9838161a31_0_2"/>
          <p:cNvSpPr txBox="1"/>
          <p:nvPr/>
        </p:nvSpPr>
        <p:spPr>
          <a:xfrm>
            <a:off x="504461" y="320453"/>
            <a:ext cx="536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CL" sz="21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Vista</a:t>
            </a:r>
            <a:r>
              <a:rPr b="0" i="0" lang="es-CL" sz="1400" u="none" cap="none" strike="noStrike">
                <a:solidFill>
                  <a:srgbClr val="110830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b="0" i="0" lang="es-CL" sz="21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de despliegue</a:t>
            </a:r>
            <a:endParaRPr b="0" i="0" sz="21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11083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78" name="Google Shape;278;g39838161a31_0_2"/>
          <p:cNvSpPr txBox="1"/>
          <p:nvPr>
            <p:ph type="title"/>
          </p:nvPr>
        </p:nvSpPr>
        <p:spPr>
          <a:xfrm>
            <a:off x="638300" y="1182500"/>
            <a:ext cx="2567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 sz="1900"/>
              <a:t>Diagrama de </a:t>
            </a:r>
            <a:br>
              <a:rPr lang="es-CL" sz="1900"/>
            </a:br>
            <a:r>
              <a:rPr lang="es-CL" sz="2300"/>
              <a:t>Despliegue -</a:t>
            </a:r>
            <a:endParaRPr sz="2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 sz="2300"/>
              <a:t> APP Móvil</a:t>
            </a:r>
            <a:br>
              <a:rPr lang="es-CL" sz="1900"/>
            </a:br>
            <a:br>
              <a:rPr lang="es-CL" sz="1900"/>
            </a:br>
            <a:endParaRPr sz="1900"/>
          </a:p>
        </p:txBody>
      </p:sp>
      <p:pic>
        <p:nvPicPr>
          <p:cNvPr id="279" name="Google Shape;279;g39838161a31_0_2"/>
          <p:cNvPicPr preferRelativeResize="0"/>
          <p:nvPr/>
        </p:nvPicPr>
        <p:blipFill rotWithShape="1">
          <a:blip r:embed="rId3">
            <a:alphaModFix/>
          </a:blip>
          <a:srcRect b="-3949" l="0" r="-2732" t="0"/>
          <a:stretch/>
        </p:blipFill>
        <p:spPr>
          <a:xfrm>
            <a:off x="2953400" y="806550"/>
            <a:ext cx="5744776" cy="4135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"/>
          <p:cNvSpPr txBox="1"/>
          <p:nvPr>
            <p:ph type="title"/>
          </p:nvPr>
        </p:nvSpPr>
        <p:spPr>
          <a:xfrm>
            <a:off x="658726" y="27927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 sz="2800"/>
              <a:t> Diagrama de Base Datos (Relacional)</a:t>
            </a:r>
            <a:endParaRPr sz="2800"/>
          </a:p>
        </p:txBody>
      </p:sp>
      <p:pic>
        <p:nvPicPr>
          <p:cNvPr id="285" name="Google Shape;285;p5"/>
          <p:cNvPicPr preferRelativeResize="0"/>
          <p:nvPr/>
        </p:nvPicPr>
        <p:blipFill rotWithShape="1">
          <a:blip r:embed="rId3">
            <a:alphaModFix/>
          </a:blip>
          <a:srcRect b="2081" l="761" r="0" t="0"/>
          <a:stretch/>
        </p:blipFill>
        <p:spPr>
          <a:xfrm>
            <a:off x="1536650" y="1017925"/>
            <a:ext cx="6033951" cy="393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/>
              <a:t>Modelo TO BE</a:t>
            </a:r>
            <a:endParaRPr/>
          </a:p>
        </p:txBody>
      </p:sp>
      <p:pic>
        <p:nvPicPr>
          <p:cNvPr id="291" name="Google Shape;291;p16" title="To Be.png"/>
          <p:cNvPicPr preferRelativeResize="0"/>
          <p:nvPr/>
        </p:nvPicPr>
        <p:blipFill rotWithShape="1">
          <a:blip r:embed="rId3">
            <a:alphaModFix/>
          </a:blip>
          <a:srcRect b="15218" l="0" r="0" t="0"/>
          <a:stretch/>
        </p:blipFill>
        <p:spPr>
          <a:xfrm>
            <a:off x="531775" y="1081700"/>
            <a:ext cx="7923651" cy="34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897328f41c_0_95"/>
          <p:cNvSpPr txBox="1"/>
          <p:nvPr>
            <p:ph type="title"/>
          </p:nvPr>
        </p:nvSpPr>
        <p:spPr>
          <a:xfrm>
            <a:off x="839763" y="4573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/>
              <a:t>Resumen de costos Estimado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/>
          </a:p>
        </p:txBody>
      </p:sp>
      <p:graphicFrame>
        <p:nvGraphicFramePr>
          <p:cNvPr id="297" name="Google Shape;297;g3897328f41c_0_95"/>
          <p:cNvGraphicFramePr/>
          <p:nvPr/>
        </p:nvGraphicFramePr>
        <p:xfrm>
          <a:off x="860250" y="147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{BE414B90-7BC1-452E-AA19-E73AA1BA2755}</a:tableStyleId>
              </a:tblPr>
              <a:tblGrid>
                <a:gridCol w="2165575"/>
                <a:gridCol w="1256700"/>
              </a:tblGrid>
              <a:tr h="346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Planificación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$ 290.426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Análisis y Diseño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$ 967.286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Desarrollo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$ 9.651.738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Pruebas y Control de calidad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$ 3.354.177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de Implementación y Cierre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$ 3.292.715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HH FASES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$ 17.556.342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4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8" name="Google Shape;298;g3897328f41c_0_95"/>
          <p:cNvGraphicFramePr/>
          <p:nvPr/>
        </p:nvGraphicFramePr>
        <p:xfrm>
          <a:off x="4708775" y="149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{BE414B90-7BC1-452E-AA19-E73AA1BA2755}</a:tableStyleId>
              </a:tblPr>
              <a:tblGrid>
                <a:gridCol w="2472925"/>
                <a:gridCol w="1362075"/>
              </a:tblGrid>
              <a:tr h="3259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Costos de infraestructura tecnológica: 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$ 515.530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73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Costos de mantención del sistema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$1.800.000</a:t>
                      </a:r>
                      <a:endParaRPr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59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Costos de herramientas y software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$ 700.000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59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Otros costos asociados: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$ 500.000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COSTOS OPERACIONALES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$ 3.515.530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4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9" name="Google Shape;299;g3897328f41c_0_95"/>
          <p:cNvGraphicFramePr/>
          <p:nvPr/>
        </p:nvGraphicFramePr>
        <p:xfrm>
          <a:off x="4851863" y="374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{BE414B90-7BC1-452E-AA19-E73AA1BA2755}</a:tableStyleId>
              </a:tblPr>
              <a:tblGrid>
                <a:gridCol w="2468675"/>
                <a:gridCol w="1308625"/>
              </a:tblGrid>
              <a:tr h="380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L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COSTOS 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4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$ 21.071.872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4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g3a4059af294_0_300"/>
          <p:cNvGrpSpPr/>
          <p:nvPr/>
        </p:nvGrpSpPr>
        <p:grpSpPr>
          <a:xfrm flipH="1" rot="4659980">
            <a:off x="5142117" y="3057561"/>
            <a:ext cx="4573980" cy="3479278"/>
            <a:chOff x="1522650" y="1117750"/>
            <a:chExt cx="4574075" cy="3479350"/>
          </a:xfrm>
        </p:grpSpPr>
        <p:sp>
          <p:nvSpPr>
            <p:cNvPr id="305" name="Google Shape;305;g3a4059af294_0_300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g3a4059af294_0_300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7" name="Google Shape;307;g3a4059af294_0_300"/>
          <p:cNvSpPr txBox="1"/>
          <p:nvPr/>
        </p:nvSpPr>
        <p:spPr>
          <a:xfrm>
            <a:off x="3109341" y="525088"/>
            <a:ext cx="457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CL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Flujo de caja</a:t>
            </a:r>
            <a:endParaRPr b="0" i="0" sz="30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308" name="Google Shape;308;g3a4059af294_0_3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3550" y="3746975"/>
            <a:ext cx="2836900" cy="91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g3a4059af294_0_3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0650" y="1225925"/>
            <a:ext cx="7590401" cy="237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g3a67251785f_0_0"/>
          <p:cNvGrpSpPr/>
          <p:nvPr/>
        </p:nvGrpSpPr>
        <p:grpSpPr>
          <a:xfrm flipH="1" rot="4659980">
            <a:off x="5142117" y="3057561"/>
            <a:ext cx="4573980" cy="3479278"/>
            <a:chOff x="1522650" y="1117750"/>
            <a:chExt cx="4574075" cy="3479350"/>
          </a:xfrm>
        </p:grpSpPr>
        <p:sp>
          <p:nvSpPr>
            <p:cNvPr id="315" name="Google Shape;315;g3a67251785f_0_0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g3a67251785f_0_0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7" name="Google Shape;317;g3a67251785f_0_0"/>
          <p:cNvSpPr txBox="1"/>
          <p:nvPr/>
        </p:nvSpPr>
        <p:spPr>
          <a:xfrm>
            <a:off x="2126241" y="525088"/>
            <a:ext cx="457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CL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Flujo de caja Empresa</a:t>
            </a:r>
            <a:endParaRPr b="0" i="0" sz="30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318" name="Google Shape;318;g3a67251785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25" y="1631075"/>
            <a:ext cx="8910675" cy="158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g3a67251785f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6100" y="3636700"/>
            <a:ext cx="2452300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g3a67251785f_0_10"/>
          <p:cNvGrpSpPr/>
          <p:nvPr/>
        </p:nvGrpSpPr>
        <p:grpSpPr>
          <a:xfrm flipH="1" rot="4659980">
            <a:off x="5142117" y="3057561"/>
            <a:ext cx="4573980" cy="3479278"/>
            <a:chOff x="1522650" y="1117750"/>
            <a:chExt cx="4574075" cy="3479350"/>
          </a:xfrm>
        </p:grpSpPr>
        <p:sp>
          <p:nvSpPr>
            <p:cNvPr id="325" name="Google Shape;325;g3a67251785f_0_10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g3a67251785f_0_10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7" name="Google Shape;327;g3a67251785f_0_10"/>
          <p:cNvSpPr txBox="1"/>
          <p:nvPr/>
        </p:nvSpPr>
        <p:spPr>
          <a:xfrm>
            <a:off x="2539541" y="532788"/>
            <a:ext cx="457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CL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Comparación De Flujo</a:t>
            </a:r>
            <a:endParaRPr b="0" i="0" sz="30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328" name="Google Shape;328;g3a67251785f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475" y="1384200"/>
            <a:ext cx="8729802" cy="80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g3a67251785f_0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9075" y="2404000"/>
            <a:ext cx="6075174" cy="250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g389be79aae8_0_9"/>
          <p:cNvGrpSpPr/>
          <p:nvPr/>
        </p:nvGrpSpPr>
        <p:grpSpPr>
          <a:xfrm flipH="1" rot="4659980">
            <a:off x="5076642" y="3008461"/>
            <a:ext cx="4573980" cy="3479278"/>
            <a:chOff x="1522650" y="1117750"/>
            <a:chExt cx="4574075" cy="3479350"/>
          </a:xfrm>
        </p:grpSpPr>
        <p:sp>
          <p:nvSpPr>
            <p:cNvPr id="335" name="Google Shape;335;g389be79aae8_0_9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g389be79aae8_0_9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7" name="Google Shape;337;g389be79aae8_0_9"/>
          <p:cNvSpPr txBox="1"/>
          <p:nvPr/>
        </p:nvSpPr>
        <p:spPr>
          <a:xfrm>
            <a:off x="2536050" y="170950"/>
            <a:ext cx="3623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es-CL" sz="41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Página web</a:t>
            </a:r>
            <a:endParaRPr b="0" i="0" sz="41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338" name="Google Shape;338;g389be79aae8_0_9"/>
          <p:cNvPicPr preferRelativeResize="0"/>
          <p:nvPr/>
        </p:nvPicPr>
        <p:blipFill rotWithShape="1">
          <a:blip r:embed="rId3">
            <a:alphaModFix/>
          </a:blip>
          <a:srcRect b="33399" l="28303" r="28922" t="32203"/>
          <a:stretch/>
        </p:blipFill>
        <p:spPr>
          <a:xfrm>
            <a:off x="3755875" y="2060425"/>
            <a:ext cx="1399425" cy="112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g389be79aae8_0_9" title="Video web fase 3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0437" y="1142175"/>
            <a:ext cx="6134626" cy="3450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oogle Shape;344;g3a4ab340137_0_0"/>
          <p:cNvGrpSpPr/>
          <p:nvPr/>
        </p:nvGrpSpPr>
        <p:grpSpPr>
          <a:xfrm flipH="1" rot="4659980">
            <a:off x="5076642" y="3008461"/>
            <a:ext cx="4573980" cy="3479278"/>
            <a:chOff x="1522650" y="1117750"/>
            <a:chExt cx="4574075" cy="3479350"/>
          </a:xfrm>
        </p:grpSpPr>
        <p:sp>
          <p:nvSpPr>
            <p:cNvPr id="345" name="Google Shape;345;g3a4ab340137_0_0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g3a4ab340137_0_0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7" name="Google Shape;347;g3a4ab340137_0_0"/>
          <p:cNvSpPr txBox="1"/>
          <p:nvPr/>
        </p:nvSpPr>
        <p:spPr>
          <a:xfrm>
            <a:off x="2184775" y="343050"/>
            <a:ext cx="4634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es-CL" sz="41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Aplicación móvil</a:t>
            </a:r>
            <a:endParaRPr b="0" i="0" sz="41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348" name="Google Shape;348;g3a4ab340137_0_0"/>
          <p:cNvPicPr preferRelativeResize="0"/>
          <p:nvPr/>
        </p:nvPicPr>
        <p:blipFill rotWithShape="1">
          <a:blip r:embed="rId3">
            <a:alphaModFix/>
          </a:blip>
          <a:srcRect b="35528" l="30470" r="32132" t="30453"/>
          <a:stretch/>
        </p:blipFill>
        <p:spPr>
          <a:xfrm>
            <a:off x="3960263" y="2142300"/>
            <a:ext cx="1223475" cy="111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g3a4ab340137_0_0" title="Video movil fase3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5047" y="1066350"/>
            <a:ext cx="1675001" cy="3621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g39150cda4d0_0_10"/>
          <p:cNvGrpSpPr/>
          <p:nvPr/>
        </p:nvGrpSpPr>
        <p:grpSpPr>
          <a:xfrm flipH="1" rot="4659980">
            <a:off x="5076642" y="3008461"/>
            <a:ext cx="4573980" cy="3479278"/>
            <a:chOff x="1522650" y="1117750"/>
            <a:chExt cx="4574075" cy="3479350"/>
          </a:xfrm>
        </p:grpSpPr>
        <p:sp>
          <p:nvSpPr>
            <p:cNvPr id="355" name="Google Shape;355;g39150cda4d0_0_10"/>
            <p:cNvSpPr/>
            <p:nvPr/>
          </p:nvSpPr>
          <p:spPr>
            <a:xfrm>
              <a:off x="2305900" y="1117750"/>
              <a:ext cx="3790825" cy="3217100"/>
            </a:xfrm>
            <a:custGeom>
              <a:rect b="b" l="l" r="r" t="t"/>
              <a:pathLst>
                <a:path extrusionOk="0" h="128684" w="151633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g39150cda4d0_0_10"/>
            <p:cNvSpPr/>
            <p:nvPr/>
          </p:nvSpPr>
          <p:spPr>
            <a:xfrm>
              <a:off x="1522650" y="3538750"/>
              <a:ext cx="2417375" cy="1058350"/>
            </a:xfrm>
            <a:custGeom>
              <a:rect b="b" l="l" r="r" t="t"/>
              <a:pathLst>
                <a:path extrusionOk="0" h="42334" w="96695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7" name="Google Shape;357;g39150cda4d0_0_10"/>
          <p:cNvSpPr txBox="1"/>
          <p:nvPr/>
        </p:nvSpPr>
        <p:spPr>
          <a:xfrm>
            <a:off x="2184775" y="343050"/>
            <a:ext cx="4634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s-CL" sz="41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Pruebas BD</a:t>
            </a:r>
            <a:endParaRPr b="0" i="0" sz="41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358" name="Google Shape;358;g39150cda4d0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63" y="1097274"/>
            <a:ext cx="7465525" cy="382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a6bcfde613_0_0"/>
          <p:cNvSpPr txBox="1"/>
          <p:nvPr>
            <p:ph type="title"/>
          </p:nvPr>
        </p:nvSpPr>
        <p:spPr>
          <a:xfrm>
            <a:off x="3111560" y="317600"/>
            <a:ext cx="3338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/>
              <a:t>Conclusión</a:t>
            </a:r>
            <a:endParaRPr/>
          </a:p>
        </p:txBody>
      </p:sp>
      <p:pic>
        <p:nvPicPr>
          <p:cNvPr id="364" name="Google Shape;364;g3a6bcfde613_0_0"/>
          <p:cNvPicPr preferRelativeResize="0"/>
          <p:nvPr/>
        </p:nvPicPr>
        <p:blipFill rotWithShape="1">
          <a:blip r:embed="rId3">
            <a:alphaModFix/>
          </a:blip>
          <a:srcRect b="0" l="0" r="24902" t="38510"/>
          <a:stretch/>
        </p:blipFill>
        <p:spPr>
          <a:xfrm>
            <a:off x="-503275" y="4285150"/>
            <a:ext cx="2801851" cy="99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g3a6bcfde613_0_0"/>
          <p:cNvSpPr txBox="1"/>
          <p:nvPr>
            <p:ph idx="1" type="subTitle"/>
          </p:nvPr>
        </p:nvSpPr>
        <p:spPr>
          <a:xfrm>
            <a:off x="861288" y="849388"/>
            <a:ext cx="7421400" cy="11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200"/>
              <a:buNone/>
            </a:pPr>
            <a:r>
              <a:rPr lang="es-CL"/>
              <a:t>El sistema propuesto constituye una solución integral para la gestión del desempeño en entornos hoteleros, al proporcionar herramientas avanzadas para la supervisión de tareas, la evaluación eficiente del personal y el acceso a métricas confiables. De este modo, el hotel puede consolidar una gestión de calidad superior y protegiendo su reputación y manteniendo la preferencia del cliente.</a:t>
            </a:r>
            <a:endParaRPr/>
          </a:p>
        </p:txBody>
      </p:sp>
      <p:pic>
        <p:nvPicPr>
          <p:cNvPr id="366" name="Google Shape;366;g3a6bcfde613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2300" y="2660125"/>
            <a:ext cx="5496602" cy="137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8"/>
          <p:cNvSpPr txBox="1"/>
          <p:nvPr/>
        </p:nvSpPr>
        <p:spPr>
          <a:xfrm>
            <a:off x="2576893" y="1208388"/>
            <a:ext cx="39903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</a:pPr>
            <a:r>
              <a:rPr b="0" i="0" lang="es-CL" sz="72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Gracias</a:t>
            </a:r>
            <a:endParaRPr b="0" i="0" sz="30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372" name="Google Shape;372;p18"/>
          <p:cNvPicPr preferRelativeResize="0"/>
          <p:nvPr/>
        </p:nvPicPr>
        <p:blipFill rotWithShape="1">
          <a:blip r:embed="rId3">
            <a:alphaModFix/>
          </a:blip>
          <a:srcRect b="35877" l="28811" r="30377" t="27353"/>
          <a:stretch/>
        </p:blipFill>
        <p:spPr>
          <a:xfrm>
            <a:off x="3774825" y="2375475"/>
            <a:ext cx="1212675" cy="109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a6bcfde613_0_8"/>
          <p:cNvSpPr txBox="1"/>
          <p:nvPr>
            <p:ph idx="1" type="subTitle"/>
          </p:nvPr>
        </p:nvSpPr>
        <p:spPr>
          <a:xfrm>
            <a:off x="5393603" y="1680550"/>
            <a:ext cx="2873400" cy="20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4625" lIns="94625" spcFirstLastPara="1" rIns="94625" wrap="square" tIns="94625">
            <a:noAutofit/>
          </a:bodyPr>
          <a:lstStyle/>
          <a:p>
            <a:pPr indent="-335211" lvl="0" marL="4732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3"/>
              <a:buChar char="●"/>
            </a:pPr>
            <a:r>
              <a:rPr lang="es-CL" sz="1552" u="sng">
                <a:solidFill>
                  <a:schemeClr val="hlink"/>
                </a:solidFill>
                <a:hlinkClick r:id="rId3"/>
              </a:rPr>
              <a:t>Diagramas</a:t>
            </a:r>
            <a:endParaRPr sz="1552"/>
          </a:p>
          <a:p>
            <a:pPr indent="-335211" lvl="0" marL="4732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3"/>
              <a:buChar char="●"/>
            </a:pPr>
            <a:r>
              <a:rPr lang="es-CL" sz="1552" u="sng">
                <a:solidFill>
                  <a:schemeClr val="hlink"/>
                </a:solidFill>
                <a:hlinkClick r:id="rId4"/>
              </a:rPr>
              <a:t>Matriz de riesgo</a:t>
            </a:r>
            <a:endParaRPr sz="1552"/>
          </a:p>
          <a:p>
            <a:pPr indent="-335211" lvl="0" marL="4732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3"/>
              <a:buChar char="●"/>
            </a:pPr>
            <a:r>
              <a:rPr lang="es-CL" sz="1552" u="sng">
                <a:solidFill>
                  <a:schemeClr val="hlink"/>
                </a:solidFill>
                <a:hlinkClick r:id="rId5"/>
              </a:rPr>
              <a:t>Modelos To be</a:t>
            </a:r>
            <a:endParaRPr sz="1552"/>
          </a:p>
          <a:p>
            <a:pPr indent="-335211" lvl="0" marL="4732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3"/>
              <a:buChar char="●"/>
            </a:pPr>
            <a:r>
              <a:rPr lang="es-CL" sz="1552" u="sng">
                <a:solidFill>
                  <a:schemeClr val="hlink"/>
                </a:solidFill>
                <a:hlinkClick r:id="rId6"/>
              </a:rPr>
              <a:t>Flujo de caja</a:t>
            </a:r>
            <a:endParaRPr sz="1552"/>
          </a:p>
          <a:p>
            <a:pPr indent="-335211" lvl="0" marL="4732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3"/>
              <a:buChar char="●"/>
            </a:pPr>
            <a:r>
              <a:rPr lang="es-CL" sz="1552" u="sng">
                <a:solidFill>
                  <a:schemeClr val="hlink"/>
                </a:solidFill>
                <a:hlinkClick r:id="rId7"/>
              </a:rPr>
              <a:t>Video - web</a:t>
            </a:r>
            <a:endParaRPr sz="1552"/>
          </a:p>
          <a:p>
            <a:pPr indent="-335211" lvl="0" marL="4732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53"/>
              <a:buChar char="●"/>
            </a:pPr>
            <a:r>
              <a:rPr lang="es-CL" sz="1552" u="sng">
                <a:solidFill>
                  <a:schemeClr val="hlink"/>
                </a:solidFill>
                <a:hlinkClick r:id="rId8"/>
              </a:rPr>
              <a:t>Video - App</a:t>
            </a:r>
            <a:endParaRPr sz="1552"/>
          </a:p>
        </p:txBody>
      </p:sp>
      <p:sp>
        <p:nvSpPr>
          <p:cNvPr id="378" name="Google Shape;378;g3a6bcfde613_0_8"/>
          <p:cNvSpPr txBox="1"/>
          <p:nvPr/>
        </p:nvSpPr>
        <p:spPr>
          <a:xfrm>
            <a:off x="2752825" y="4092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-CL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Anexos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g3a6bcfde613_0_8"/>
          <p:cNvSpPr txBox="1"/>
          <p:nvPr/>
        </p:nvSpPr>
        <p:spPr>
          <a:xfrm>
            <a:off x="1303925" y="1924701"/>
            <a:ext cx="3070800" cy="8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4625" lIns="94625" spcFirstLastPara="1" rIns="94625" wrap="square" tIns="94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3"/>
              <a:buFont typeface="Arial"/>
              <a:buNone/>
            </a:pPr>
            <a:r>
              <a:rPr b="0" i="0" lang="es-CL" sz="2173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Links directos a contenido relevante:</a:t>
            </a:r>
            <a:endParaRPr b="0" i="0" sz="2173" u="none" cap="none" strike="noStrike"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380" name="Google Shape;380;g3a6bcfde613_0_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29701" y="2130969"/>
            <a:ext cx="675238" cy="447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 Migration Project Proposal by Slidesgo">
  <a:themeElements>
    <a:clrScheme name="Simple Light">
      <a:dk1>
        <a:srgbClr val="241160"/>
      </a:dk1>
      <a:lt1>
        <a:srgbClr val="FFFFFF"/>
      </a:lt1>
      <a:dk2>
        <a:srgbClr val="E2E4FC"/>
      </a:dk2>
      <a:lt2>
        <a:srgbClr val="8861F1"/>
      </a:lt2>
      <a:accent1>
        <a:srgbClr val="545EEA"/>
      </a:accent1>
      <a:accent2>
        <a:srgbClr val="0B9CDC"/>
      </a:accent2>
      <a:accent3>
        <a:srgbClr val="01CFE6"/>
      </a:accent3>
      <a:accent4>
        <a:srgbClr val="FFFFFF"/>
      </a:accent4>
      <a:accent5>
        <a:srgbClr val="FFFFFF"/>
      </a:accent5>
      <a:accent6>
        <a:srgbClr val="FFFFFF"/>
      </a:accent6>
      <a:hlink>
        <a:srgbClr val="24116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Fernanda</dc:creator>
</cp:coreProperties>
</file>